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FFFFFF"/>
                </a:solidFill>
              </a:rPr>
              <a:t>Units sold (stock = 100)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spPr>
            <a:solidFill>
              <a:srgbClr val="EF4444"/>
            </a:solidFill>
          </c:spPr>
          <c:dPt>
            <c:idx val="0"/>
            <c:spPr>
              <a:solidFill>
                <a:srgbClr val="EF4444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cat>
            <c:strRef>
              <c:f>Sheet1!$A$2:$A$3</c:f>
              <c:strCache>
                <c:ptCount val="2"/>
                <c:pt idx="0">
                  <c:v>Naive counter</c:v>
                </c:pt>
                <c:pt idx="1">
                  <c:v>SALESTORM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650</c:v>
                </c:pt>
                <c:pt idx="1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E2B48"/>
            </a:solidFill>
          </a:ln>
        </c:spPr>
        <c:txPr>
          <a:bodyPr/>
          <a:lstStyle/>
          <a:p>
            <a:pPr>
              <a:defRPr sz="1200">
                <a:solidFill>
                  <a:srgbClr val="9AA8C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1E2B4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1E2B48"/>
            </a:solidFill>
          </a:ln>
        </c:spPr>
        <c:txPr>
          <a:bodyPr/>
          <a:lstStyle/>
          <a:p>
            <a:pPr>
              <a:defRPr sz="1200">
                <a:solidFill>
                  <a:srgbClr val="9AA8C2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FFFFFF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FFFFFF"/>
                </a:solidFill>
              </a:rPr>
              <a:t>Where 10,200 requests were answered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Requests answered</c:v>
                </c:pt>
              </c:strCache>
            </c:strRef>
          </c:tx>
          <c:spPr>
            <a:solidFill>
              <a:srgbClr val="22D3EE"/>
            </a:solidFill>
          </c:spPr>
          <c:dPt>
            <c:idx val="0"/>
            <c:spPr>
              <a:solidFill>
                <a:srgbClr val="22D3EE"/>
              </a:solidFill>
            </c:spPr>
          </c:dPt>
          <c:dPt>
            <c:idx val="1"/>
            <c:spPr>
              <a:solidFill>
                <a:srgbClr val="14B8A6"/>
              </a:solidFill>
            </c:spPr>
          </c:dPt>
          <c:dPt>
            <c:idx val="2"/>
            <c:spPr>
              <a:solidFill>
                <a:srgbClr val="A78BFA"/>
              </a:solidFill>
            </c:spPr>
          </c:dPt>
          <c:dPt>
            <c:idx val="3"/>
            <c:spPr>
              <a:solidFill>
                <a:srgbClr val="3B82F6"/>
              </a:solidFill>
            </c:spPr>
          </c:dPt>
          <c:dPt>
            <c:idx val="4"/>
            <c:spPr>
              <a:solidFill>
                <a:srgbClr val="F59E0B"/>
              </a:solidFill>
            </c:spPr>
          </c:dPt>
          <c:cat>
            <c:strRef>
              <c:f>Sheet1!$A$2:$A$6</c:f>
              <c:strCache>
                <c:ptCount val="5"/>
                <c:pt idx="0">
                  <c:v>L1 CDN</c:v>
                </c:pt>
                <c:pt idx="1">
                  <c:v>L2 in-proc</c:v>
                </c:pt>
                <c:pt idx="2">
                  <c:v>L3 rejected</c:v>
                </c:pt>
                <c:pt idx="3">
                  <c:v>L3 replay</c:v>
                </c:pt>
                <c:pt idx="4">
                  <c:v>L4 Postgres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9921</c:v>
                </c:pt>
                <c:pt idx="1">
                  <c:v>163</c:v>
                </c:pt>
                <c:pt idx="2">
                  <c:v>7</c:v>
                </c:pt>
                <c:pt idx="3">
                  <c:v>2</c:v>
                </c:pt>
                <c:pt idx="4">
                  <c:v>107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E2B48"/>
            </a:solidFill>
          </a:ln>
        </c:spPr>
        <c:txPr>
          <a:bodyPr/>
          <a:lstStyle/>
          <a:p>
            <a:pPr>
              <a:defRPr sz="1100">
                <a:solidFill>
                  <a:srgbClr val="9AA8C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1E2B4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1E2B48"/>
            </a:solidFill>
          </a:ln>
        </c:spPr>
        <c:txPr>
          <a:bodyPr/>
          <a:lstStyle/>
          <a:p>
            <a:pPr>
              <a:defRPr sz="1100">
                <a:solidFill>
                  <a:srgbClr val="9AA8C2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FFFFFF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FFFFFF"/>
                </a:solidFill>
              </a:rPr>
              <a:t>Units sold (stock 100)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spPr>
            <a:solidFill>
              <a:srgbClr val="EF4444"/>
            </a:solidFill>
          </c:spPr>
          <c:dPt>
            <c:idx val="0"/>
            <c:spPr>
              <a:solidFill>
                <a:srgbClr val="EF4444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cat>
            <c:strRef>
              <c:f>Sheet1!$A$2:$A$3</c:f>
              <c:strCache>
                <c:ptCount val="2"/>
                <c:pt idx="0">
                  <c:v>Naive</c:v>
                </c:pt>
                <c:pt idx="1">
                  <c:v>SALESTORM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650</c:v>
                </c:pt>
                <c:pt idx="1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E2B48"/>
            </a:solidFill>
          </a:ln>
        </c:spPr>
        <c:txPr>
          <a:bodyPr/>
          <a:lstStyle/>
          <a:p>
            <a:pPr>
              <a:defRPr sz="1100">
                <a:solidFill>
                  <a:srgbClr val="9AA8C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1E2B4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1E2B48"/>
            </a:solidFill>
          </a:ln>
        </c:spPr>
        <c:txPr>
          <a:bodyPr/>
          <a:lstStyle/>
          <a:p>
            <a:pPr>
              <a:defRPr sz="1100">
                <a:solidFill>
                  <a:srgbClr val="9AA8C2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FFFFFF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FFFFFF"/>
                </a:solidFill>
              </a:rPr>
              <a:t>Retry storm: load after 2 s blip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Load ×</c:v>
                </c:pt>
              </c:strCache>
            </c:strRef>
          </c:tx>
          <c:spPr>
            <a:solidFill>
              <a:srgbClr val="EF4444"/>
            </a:solidFill>
          </c:spPr>
          <c:dPt>
            <c:idx val="0"/>
            <c:spPr>
              <a:solidFill>
                <a:srgbClr val="EF4444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cat>
            <c:strRef>
              <c:f>Sheet1!$A$2:$A$3</c:f>
              <c:strCache>
                <c:ptCount val="2"/>
                <c:pt idx="0">
                  <c:v>Naive</c:v>
                </c:pt>
                <c:pt idx="1">
                  <c:v>Budgeted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4.26</c:v>
                </c:pt>
                <c:pt idx="1">
                  <c:v>1.01</c:v>
                </c:pt>
              </c:numCache>
            </c:numRef>
          </c:val>
        </c:ser>
        <c:dLbls>
          <c:numFmt formatCode="0.00&quot;×&quot;" sourceLinked="0"/>
          <c:txPr>
            <a:bodyPr/>
            <a:lstStyle/>
            <a:p>
              <a:pPr>
                <a:defRPr sz="10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E2B48"/>
            </a:solidFill>
          </a:ln>
        </c:spPr>
        <c:txPr>
          <a:bodyPr/>
          <a:lstStyle/>
          <a:p>
            <a:pPr>
              <a:defRPr sz="1000">
                <a:solidFill>
                  <a:srgbClr val="9AA8C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1E2B4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1E2B48"/>
            </a:solidFill>
          </a:ln>
        </c:spPr>
        <c:txPr>
          <a:bodyPr/>
          <a:lstStyle/>
          <a:p>
            <a:pPr>
              <a:defRPr sz="1000">
                <a:solidFill>
                  <a:srgbClr val="9AA8C2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FFFFFF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FFFFFF"/>
                </a:solidFill>
              </a:rPr>
              <a:t>30 s outage: duplicate orders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Dupes</c:v>
                </c:pt>
              </c:strCache>
            </c:strRef>
          </c:tx>
          <c:spPr>
            <a:solidFill>
              <a:srgbClr val="EF4444"/>
            </a:solidFill>
          </c:spPr>
          <c:dPt>
            <c:idx val="0"/>
            <c:spPr>
              <a:solidFill>
                <a:srgbClr val="EF4444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cat>
            <c:strRef>
              <c:f>Sheet1!$A$2:$A$3</c:f>
              <c:strCache>
                <c:ptCount val="2"/>
                <c:pt idx="0">
                  <c:v>No inbox</c:v>
                </c:pt>
                <c:pt idx="1">
                  <c:v>With inbox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</c:v>
                </c:pt>
                <c:pt idx="1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E2B48"/>
            </a:solidFill>
          </a:ln>
        </c:spPr>
        <c:txPr>
          <a:bodyPr/>
          <a:lstStyle/>
          <a:p>
            <a:pPr>
              <a:defRPr sz="1000">
                <a:solidFill>
                  <a:srgbClr val="9AA8C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1E2B4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1E2B48"/>
            </a:solidFill>
          </a:ln>
        </c:spPr>
        <c:txPr>
          <a:bodyPr/>
          <a:lstStyle/>
          <a:p>
            <a:pPr>
              <a:defRPr sz="1000">
                <a:solidFill>
                  <a:srgbClr val="9AA8C2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FFFFFF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FFFFFF"/>
                </a:solidFill>
              </a:rPr>
              <a:t>Stale lock: buyers lost unit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Lost</c:v>
                </c:pt>
              </c:strCache>
            </c:strRef>
          </c:tx>
          <c:spPr>
            <a:solidFill>
              <a:srgbClr val="EF4444"/>
            </a:solidFill>
          </c:spPr>
          <c:dPt>
            <c:idx val="0"/>
            <c:spPr>
              <a:solidFill>
                <a:srgbClr val="EF4444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cat>
            <c:strRef>
              <c:f>Sheet1!$A$2:$A$3</c:f>
              <c:strCache>
                <c:ptCount val="2"/>
                <c:pt idx="0">
                  <c:v>Redis lock only</c:v>
                </c:pt>
                <c:pt idx="1">
                  <c:v>+ fencing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</c:v>
                </c:pt>
                <c:pt idx="1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E2B48"/>
            </a:solidFill>
          </a:ln>
        </c:spPr>
        <c:txPr>
          <a:bodyPr/>
          <a:lstStyle/>
          <a:p>
            <a:pPr>
              <a:defRPr sz="1000">
                <a:solidFill>
                  <a:srgbClr val="9AA8C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1E2B4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1E2B48"/>
            </a:solidFill>
          </a:ln>
        </c:spPr>
        <c:txPr>
          <a:bodyPr/>
          <a:lstStyle/>
          <a:p>
            <a:pPr>
              <a:defRPr sz="1000">
                <a:solidFill>
                  <a:srgbClr val="9AA8C2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FFFFFF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We are SALESTORM. We built a flash-sale platform that sells exactly 100 units to 10,000 simultaneous buyers, never charges twice, and survives a 30-second Order Service outage. One sentence sums up the design: caches can say NO, only the database can say YES.</a:t>
            </a:r>
          </a:p>
          <a:p/>
          <a:p>
            <a:r>
              <a:t>LIKELY JUDGE QUESTION: What is the one idea we should remember?</a:t>
            </a:r>
          </a:p>
          <a:p>
            <a:r>
              <a:t>ANSWER: The Cache-Hit Ladder: every tier may reject, only a committed Postgres transaction may accept — speed from caches, correctness from the 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These six numbers are the test case. 100 units, 10,000 buyers, 500k requests per second at peak, 5% payment failures, 2% duplicates and a 30-second outage, all at once.</a:t>
            </a:r>
          </a:p>
          <a:p/>
          <a:p>
            <a:r>
              <a:t>LIKELY JUDGE QUESTION: Why design for 500k req/s if only 100 units sell?</a:t>
            </a:r>
          </a:p>
          <a:p>
            <a:r>
              <a:t>ANSWER: Because demand is set by buyers, not stock: page views and Buy clicks arrive anyway. The ladder absorbs them before they reach the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We ran the naive design through the same simulator with the same 10,200 requests: it sold 650 units of a 100-unit stock. Read-then-write is a race; everything after this slide is about closing it.</a:t>
            </a:r>
          </a:p>
          <a:p/>
          <a:p>
            <a:r>
              <a:t>LIKELY JUDGE QUESTION: Would a transaction fix the naive version?</a:t>
            </a:r>
          </a:p>
          <a:p>
            <a:r>
              <a:t>ANSWER: Not at READ COMMITTED: two transactions both read stock=1 and both write — classic write skew. We fix it structurally with unit rows + SKIP LOCKED + UNIQUE.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We split requirements in two: correctness guarantees enforced by the database that never bend, and performance targets that can degrade gracefully by shedding load.</a:t>
            </a:r>
          </a:p>
          <a:p/>
          <a:p>
            <a:r>
              <a:t>LIKELY JUDGE QUESTION: What do you sacrifice under overload?</a:t>
            </a:r>
          </a:p>
          <a:p>
            <a:r>
              <a:t>ANSWER: Latency and availability of NO answers (503 + Retry-After), never correctness. A rejected buyer can retry; an oversold unit cannot be undone.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Of 10,200 requests, 9,921 were answered at the CDN, 163 at the in-process cache, 7 rejected and 2 replayed at Redis, and only 107 ever touched Postgres, which sold exactly 100. Every tier may say NO; only the DB says YES.</a:t>
            </a:r>
          </a:p>
          <a:p/>
          <a:p>
            <a:r>
              <a:t>LIKELY JUDGE QUESTION: What if a cache is stale and says IN_STOCK?</a:t>
            </a:r>
          </a:p>
          <a:p>
            <a:r>
              <a:t>ANSWER: Harmless: a stale YES only forwards the request to the next tier. The final YES is still a committed DB row. A stale NO is bounded by 1 s TTL and purged on StockReleased.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Section one: the high-level design, presented by our System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At the context level SALESTORM talks to buyers, admins, a payment gateway, delivery partners and notification providers. Every external dependency sits behind an adapter with a circuit breaker.</a:t>
            </a:r>
          </a:p>
          <a:p/>
          <a:p>
            <a:r>
              <a:t>LIKELY JUDGE QUESTION: What if the payment gateway is down?</a:t>
            </a:r>
          </a:p>
          <a:p>
            <a:r>
              <a:t>ANSWER: The breaker opens, buyers keep their reservation and see a retry message; auths that time out are voided by reconciliation; units return to the pool after TTL.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Requests flow browser → CDN/WAF → load balancer → API gateway → stateless services. Redis holds admission tokens, Postgres is the source of truth, Kafka carries events via the outbox to Order, Shipment and Notification.</a:t>
            </a:r>
          </a:p>
          <a:p/>
          <a:p>
            <a:r>
              <a:t>LIKELY JUDGE QUESTION: Why not just add more servers?</a:t>
            </a:r>
          </a:p>
          <a:p>
            <a:r>
              <a:t>ANSWER: The bottleneck is one contested resource — 100 units — not CPU. More servers add more contention; the ladder removes contention by rejecting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Containers: Reservation, Payment, Order, Shipment and Notification services, each owning its data; Redis, Postgres and Kafka are shared infrastructure inside the flash-sale cell.</a:t>
            </a:r>
          </a:p>
          <a:p/>
          <a:p>
            <a:r>
              <a:t>LIKELY JUDGE QUESTION: Is this microservices for its own sake?</a:t>
            </a:r>
          </a:p>
          <a:p>
            <a:r>
              <a:t>ANSWER: No — the split follows failure isolation: Order can be down 30 s without blocking reservations or payments.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Inside the Reservation service: idempotency filter, token pool, unit repository, outbox writer and the expiry sweeper with a lease and fencing token.</a:t>
            </a:r>
          </a:p>
          <a:p/>
          <a:p>
            <a:r>
              <a:t>LIKELY JUDGE QUESTION: Where is idempotency enforced?</a:t>
            </a:r>
          </a:p>
          <a:p>
            <a:r>
              <a:t>ANSWER: At the edge of the service (idempotency_record) and again in the DB via UNIQUE constraints — two independent 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flash sale runs in its own cell so a meltdown cannot touch normal shopping. We size with Little's law: about 200 requests in flight, a DB pool of 40, and stay under 70% utilisation.</a:t>
            </a:r>
          </a:p>
          <a:p/>
          <a:p>
            <a:r>
              <a:t>LIKELY JUDGE QUESTION: Why a separate cell?</a:t>
            </a:r>
          </a:p>
          <a:p>
            <a:r>
              <a:t>ANSWER: Blast radius: if the sale melts down, the regular catalogue and checkout keep running. ADR-010.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Section two: low-level design, presented by our LLD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Core classes: CheckoutFacade, ReservationService, TokenPool, InventoryUnitRepository, PaymentService with gateway adapters, plus resilience classes like RetryBudget, LoadShedder, SingleflightCache, HotKeySaltedTokenPool and InboxDeduplicator.</a:t>
            </a:r>
          </a:p>
          <a:p/>
          <a:p>
            <a:r>
              <a:t>LIKELY JUDGE QUESTION: Which class guarantees no oversell?</a:t>
            </a:r>
          </a:p>
          <a:p>
            <a:r>
              <a:t>ANSWER: InventoryUnitRepository.claim() — SELECT … FOR UPDATE SKIP LOCKED on unit rows, backed by DB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One concrete class per principle. The best example is DIP: ReservationService depends on the TokenPool interface, so the Redis pool, the salted hot-key pool and the DB fallback are interchangeable.</a:t>
            </a:r>
          </a:p>
          <a:p/>
          <a:p>
            <a:r>
              <a:t>LIKELY JUDGE QUESTION: Show where Open/Closed applies.</a:t>
            </a:r>
          </a:p>
          <a:p>
            <a:r>
              <a:t>ANSWER: Adding Stripe or hot-key salting was a new class registered in a factory; ReservationService and PaymentService were not edited.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Nine patterns, each chosen for a specific failure: Saga for compensation, Factory plus Adapter for payment providers, Decorator for the circuit breaker, State for legal order transitions, Outbox for reliable events.</a:t>
            </a:r>
          </a:p>
          <a:p/>
          <a:p>
            <a:r>
              <a:t>LIKELY JUDGE QUESTION: Which pattern handles payment provider switching?</a:t>
            </a:r>
          </a:p>
          <a:p>
            <a:r>
              <a:t>ANSWER: Factory + Adapter: PaymentProviderFactory returns a PaymentGateway; Razorpay/Stripe adapters implement it; the CircuitBreakerGateway decorator wraps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Buy Now: idempotency check, Redis token DECR, then one Postgres transaction claims a unit with SKIP LOCKED, inserts the reservation and the outbox event, and commits. Only then is the answer YES.</a:t>
            </a:r>
          </a:p>
          <a:p/>
          <a:p>
            <a:r>
              <a:t>LIKELY JUDGE QUESTION: Two users click for the last unit at the same instant?</a:t>
            </a:r>
          </a:p>
          <a:p>
            <a:r>
              <a:t>ANSWER: Only one token remains in Redis; even if both got through, SKIP LOCKED gives them different rows or none, and UNIQUE stops a second unit per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We authorize first and capture only after the order exists. If anything fails between, we void the authorization instead of refunding a captured charge.</a:t>
            </a:r>
          </a:p>
          <a:p/>
          <a:p>
            <a:r>
              <a:t>LIKELY JUDGE QUESTION: Payment succeeds but order creation fails?</a:t>
            </a:r>
          </a:p>
          <a:p>
            <a:r>
              <a:t>ANSWER: The PaymentAuthorized event sits in the outbox; Order consumes it when back, deduped by the inbox. If it never completes, reconciliation voids the auth — the customer is never charged for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Reservation: HELD → PAID or EXPIRED/RELEASED. Order: CREATED → CONFIRMED → SHIPPED → DELIVERED, with cancel and compensation branches. Transitions are guarded by version columns.</a:t>
            </a:r>
          </a:p>
          <a:p/>
          <a:p>
            <a:r>
              <a:t>LIKELY JUDGE QUESTION: What stops an expired reservation being paid?</a:t>
            </a:r>
          </a:p>
          <a:p>
            <a:r>
              <a:t>ANSWER: The version (fencing) check: payment updates WHERE version = expected; the sweeper bumped it, so 0 rows update and the auth is voided.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Section three: data, API and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22 tables in PostgreSQL. The key choice: inventory is one row per unit, not a counter, so buyers lock different rows. Constraints — CHECK, partial UNIQUE, idempotency_record — make illegal states unrepresentable.</a:t>
            </a:r>
          </a:p>
          <a:p/>
          <a:p>
            <a:r>
              <a:t>LIKELY JUDGE QUESTION: SQL or NoSQL and why?</a:t>
            </a:r>
          </a:p>
          <a:p>
            <a:r>
              <a:t>ANSWER: SQL: we need multi-row ACID transactions (unit + reservation + outbox in one commit) and constraints as the last line of defence. ADR-004.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Every write takes an Idempotency-Key. Reservations return 201 on success, 200 on replay, 409 for sold-out, and 503 with Retry-After when we shed load. The full spec is live on our Swagger page.</a:t>
            </a:r>
          </a:p>
          <a:p/>
          <a:p>
            <a:r>
              <a:t>LIKELY JUDGE QUESTION: How do you stop a duplicate order?</a:t>
            </a:r>
          </a:p>
          <a:p>
            <a:r>
              <a:t>ANSWER: Idempotency-Key at the API, UNIQUE(sale, customer) in the DB, and the inbox table at the Order consumer — three independent 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outbox guarantees we never lose an event: it commits with the business data. The inbox guarantees we never process one twice. Together that is effectively-once delivery.</a:t>
            </a:r>
          </a:p>
          <a:p/>
          <a:p>
            <a:r>
              <a:t>LIKELY JUDGE QUESTION: What if the payment webhook arrives late?</a:t>
            </a:r>
          </a:p>
          <a:p>
            <a:r>
              <a:t>ANSWER: We order by event time with a watermark; late events go to reconciliation, which voids or captures based on the reservation's current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Section four: concurrency, failure handling and our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Oversell is a write-skew problem. We remove the shared counter: each unit is a row, buyers claim with FOR UPDATE SKIP LOCKED, so they never wait on each other and never claim the same unit.</a:t>
            </a:r>
          </a:p>
          <a:p/>
          <a:p>
            <a:r>
              <a:t>LIKELY JUDGE QUESTION: Optimistic or pessimistic locking?</a:t>
            </a:r>
          </a:p>
          <a:p>
            <a:r>
              <a:t>ANSWER: Pessimistic SKIP LOCKED for stock (high contention, retries would storm); optimistic version columns for everything else (low contention). ADR-008.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Fourteen real production failure modes, each with a named control. Six of them we actually simulated — next slides show the numbers.</a:t>
            </a:r>
          </a:p>
          <a:p/>
          <a:p>
            <a:r>
              <a:t>LIKELY JUDGE QUESTION: What is a metastable failure?</a:t>
            </a:r>
          </a:p>
          <a:p>
            <a:r>
              <a:t>ANSWER: A state where the system stays overloaded even after the trigger goes away, usually because retries keep load high. Retry budgets + load shedding break the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diagram shows where each control sits on the request path — shedding at the edge, retry budgets in clients, breakers around the gateway, fencing tokens at the database.</a:t>
            </a:r>
          </a:p>
          <a:p/>
          <a:p>
            <a:r>
              <a:t>LIKELY JUDGE QUESTION: Why not retry everything?</a:t>
            </a:r>
          </a:p>
          <a:p>
            <a:r>
              <a:t>ANSWER: Retries multiply load exactly when the system is weakest. We retry only idempotent calls, with jitter, within a 10%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Our simulator replayed the full test case: 10,200 requests including duplicates. 97% were answered at the CDN, 107 reached Postgres, exactly 100 sold, and 415 invariant checks found zero violations. Same load on a naive counter sold 650.</a:t>
            </a:r>
          </a:p>
          <a:p/>
          <a:p>
            <a:r>
              <a:t>LIKELY JUDGE QUESTION: Is a simulation enough proof?</a:t>
            </a:r>
          </a:p>
          <a:p>
            <a:r>
              <a:t>ANSWER: It proves the logic and invariants; the Postgres checks (22 tables, constraints passed) prove the DB layer; Locust/JMeter open-loop scripts in the repo test throughput.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Six resilience experiments. Retry budgets keep load at 1.01x instead of 4.26x; the inbox removes all 13 duplicates; fencing tokens save 3 buyers; singleflight turns 2,000 misses into one DB read; salting caps a hot key at 57 ops; and open-loop testing reveals the true 1.9 s p99 that closed-loop hid.</a:t>
            </a:r>
          </a:p>
          <a:p/>
          <a:p>
            <a:r>
              <a:t>LIKELY JUDGE QUESTION: What is coordinated omission?</a:t>
            </a:r>
          </a:p>
          <a:p>
            <a:r>
              <a:t>ANSWER: A closed-loop load tester stops sending while the server stalls, so it never records the slow requests. Open-loop measures from intended start time: p99 1,902 ms, not 1 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During the outage, buyers keep reserving and paying because the order step is asynchronous. Events wait in the outbox and Kafka; when Order restarts it replays, and the inbox discards redeliveries. Nothing lost, nothing duplicated.</a:t>
            </a:r>
          </a:p>
          <a:p/>
          <a:p>
            <a:r>
              <a:t>LIKELY JUDGE QUESTION: Order Service is down for 30 seconds, what happens?</a:t>
            </a:r>
          </a:p>
          <a:p>
            <a:r>
              <a:t>ANSWER: Exactly this timeline: sync path unaffected, async backlog drained on restart, inbox dedupe, reconciliation voids any auth whose order never materialises.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Ten ADRs record every major trade-off with alternatives considered and consequences. Each team member owns specific ADRs.</a:t>
            </a:r>
          </a:p>
          <a:p/>
          <a:p>
            <a:r>
              <a:t>LIKELY JUDGE QUESTION: Sync or async — how did you decide?</a:t>
            </a:r>
          </a:p>
          <a:p>
            <a:r>
              <a:t>ANSWER: Anything the buyer must see immediately (reserve, authorize) is sync; everything that can wait (order, shipment, notification) is async via outbox, so its outage cannot block a sale. ADR-005.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Every artifact was built with an industry tool: Draw.io and UML for diagrams, Workbench and dbdiagram for the schema, Swagger and Postman for the API, Locust and JMeter for load, GitHub Pages for the live site.</a:t>
            </a:r>
          </a:p>
          <a:p/>
          <a:p>
            <a:r>
              <a:t>LIKELY JUDGE QUESTION: Can you show the API live?</a:t>
            </a:r>
          </a:p>
          <a:p>
            <a:r>
              <a:t>ANSWER: Yes — the Swagger page on GitHub Pages renders our openapi.yaml with every endpoint and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Four owners, but everyone has walked through every module, so any of us can take any question.</a:t>
            </a:r>
          </a:p>
          <a:p/>
          <a:p>
            <a:r>
              <a:t>LIKELY JUDGE QUESTION: Who designed the concurrency model?</a:t>
            </a:r>
          </a:p>
          <a:p>
            <a:r>
              <a:t>ANSWER: Student 4 owns it, but every member can explain SKIP LOCKED, the token pool and the UNIQUE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Scan the QR for our live site with every diagram, the Swagger API and the simulation results. Caches can say NO; only the database can say YES. Thank you.</a:t>
            </a:r>
          </a:p>
          <a:p/>
          <a:p>
            <a:r>
              <a:t>LIKELY JUDGE QUESTION: What would you build next?</a:t>
            </a:r>
          </a:p>
          <a:p>
            <a:r>
              <a:t>ANSWER: Multi-region active-passive for the cell, real gateway sandbox integration, and chaos tests in CI using the same resilience simulator.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6" name="Oval 5"/>
          <p:cNvSpPr/>
          <p:nvPr/>
        </p:nvSpPr>
        <p:spPr>
          <a:xfrm>
            <a:off x="-1371600" y="4023360"/>
            <a:ext cx="7315200" cy="7315200"/>
          </a:xfrm>
          <a:prstGeom prst="ellipse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0" y="-2377440"/>
            <a:ext cx="5943600" cy="5943600"/>
          </a:xfrm>
          <a:prstGeom prst="ellipse">
            <a:avLst/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0" y="3931920"/>
            <a:ext cx="384048" cy="150876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104120" y="3520439"/>
            <a:ext cx="384048" cy="1920240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607040" y="3108960"/>
            <a:ext cx="384048" cy="2331720"/>
          </a:xfrm>
          <a:prstGeom prst="roundRect">
            <a:avLst>
              <a:gd name="adj" fmla="val 2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09960" y="2697479"/>
            <a:ext cx="384048" cy="2743200"/>
          </a:xfrm>
          <a:prstGeom prst="roundRect">
            <a:avLst>
              <a:gd name="adj" fmla="val 2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612880" y="2286000"/>
            <a:ext cx="384048" cy="315468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SYSCRAFTERS 2026  •  SYSTEM DESIGN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508760"/>
            <a:ext cx="82296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FFFFFF"/>
                </a:solidFill>
                <a:latin typeface="Segoe UI"/>
              </a:rPr>
              <a:t>SALESTORM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697480"/>
            <a:ext cx="78638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9AA8C2"/>
                </a:solidFill>
                <a:latin typeface="Segoe UI"/>
              </a:rPr>
              <a:t>Selling exactly 100 units to 10,000 buyers in one second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429000"/>
            <a:ext cx="78638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Segoe UI"/>
              </a:rPr>
              <a:t>Caches can say </a:t>
            </a:r>
            <a:r>
              <a:rPr sz="2200" b="1">
                <a:solidFill>
                  <a:srgbClr val="EF4444"/>
                </a:solidFill>
                <a:latin typeface="Segoe UI"/>
              </a:rPr>
              <a:t>NO</a:t>
            </a:r>
            <a:r>
              <a:rPr sz="2200" b="0">
                <a:solidFill>
                  <a:srgbClr val="FFFFFF"/>
                </a:solidFill>
                <a:latin typeface="Segoe UI"/>
              </a:rPr>
              <a:t>. Only the database can say </a:t>
            </a:r>
            <a:r>
              <a:rPr sz="2200" b="1">
                <a:solidFill>
                  <a:srgbClr val="10B981"/>
                </a:solidFill>
                <a:latin typeface="Segoe UI"/>
              </a:rPr>
              <a:t>YES</a:t>
            </a:r>
            <a:r>
              <a:rPr sz="2200" b="0">
                <a:solidFill>
                  <a:srgbClr val="FFFFFF"/>
                </a:solidFill>
                <a:latin typeface="Segoe U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4340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Cache-Hit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26080" y="43434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200" b="1">
                <a:solidFill>
                  <a:srgbClr val="10B981"/>
                </a:solidFill>
                <a:latin typeface="Segoe UI"/>
              </a:rPr>
              <a:t>0 oversold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4343400"/>
            <a:ext cx="224028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Exactly-once charge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4343400"/>
            <a:ext cx="233172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200" b="1">
                <a:solidFill>
                  <a:srgbClr val="A78BFA"/>
                </a:solidFill>
                <a:latin typeface="Segoe UI"/>
              </a:rPr>
              <a:t>Survives 30 s outage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Flash-sale e-commerce platform  •  HLD • LLD • DB • API • Reliability • Proof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F4444"/>
                </a:solidFill>
                <a:latin typeface="Segoe UI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The problem in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EF4444"/>
                </a:solidFill>
                <a:latin typeface="Segoe UI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6304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463040"/>
            <a:ext cx="82296" cy="16002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536192"/>
            <a:ext cx="3291840" cy="88011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22D3EE"/>
                </a:solidFill>
                <a:latin typeface="Segoe UI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359152"/>
            <a:ext cx="3291840" cy="7040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units in stock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146304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79" y="1463040"/>
            <a:ext cx="82296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79" y="1536192"/>
            <a:ext cx="3291840" cy="88011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59E0B"/>
                </a:solidFill>
                <a:latin typeface="Segoe UI"/>
              </a:rPr>
              <a:t>10,000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2359152"/>
            <a:ext cx="3291840" cy="7040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buyers click at once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46304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19" y="1463040"/>
            <a:ext cx="82296" cy="16002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19" y="1536192"/>
            <a:ext cx="3291840" cy="88011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A78BFA"/>
                </a:solidFill>
                <a:latin typeface="Segoe UI"/>
              </a:rPr>
              <a:t>500k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2359152"/>
            <a:ext cx="3291840" cy="7040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requests / s at peak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29184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291840"/>
            <a:ext cx="82296" cy="1600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364992"/>
            <a:ext cx="3291840" cy="88011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0B981"/>
                </a:solidFill>
                <a:latin typeface="Segoe UI"/>
              </a:rPr>
              <a:t>95 /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187952"/>
            <a:ext cx="3291840" cy="7040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% payments succeed / fail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79" y="329184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79" y="3291840"/>
            <a:ext cx="82296" cy="16002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79" y="3364992"/>
            <a:ext cx="3291840" cy="88011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3B82F6"/>
                </a:solidFill>
                <a:latin typeface="Segoe UI"/>
              </a:rPr>
              <a:t>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79" y="4187952"/>
            <a:ext cx="3291840" cy="7040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duplicate requests (double clicks, retries)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19" y="329184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19" y="3291840"/>
            <a:ext cx="82296" cy="1600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19" y="3364992"/>
            <a:ext cx="3291840" cy="88011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EF4444"/>
                </a:solidFill>
                <a:latin typeface="Segoe UI"/>
              </a:rPr>
              <a:t>30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19" y="4187952"/>
            <a:ext cx="3291840" cy="7040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Order Service outage mid-sale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166360"/>
            <a:ext cx="11091672" cy="1005840"/>
          </a:xfrm>
          <a:prstGeom prst="roundRect">
            <a:avLst>
              <a:gd name="adj" fmla="val 8000"/>
            </a:avLst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257800"/>
            <a:ext cx="1069848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59E0B"/>
                </a:solidFill>
                <a:latin typeface="Segoe UI"/>
              </a:rPr>
              <a:t>Win condition: </a:t>
            </a:r>
            <a:r>
              <a:rPr sz="1800" b="0">
                <a:solidFill>
                  <a:srgbClr val="FFFFFF"/>
                </a:solidFill>
                <a:latin typeface="Segoe UI"/>
              </a:rPr>
              <a:t>exactly 100 sold, nobody charged twice, no paid order lost — under all six conditions at once.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F4444"/>
                </a:solidFill>
                <a:latin typeface="Segoe UI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What breaks in a naive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EF4444"/>
                </a:solidFill>
                <a:latin typeface="Segoe UI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6304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463040"/>
            <a:ext cx="365760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609344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Naive 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29968"/>
            <a:ext cx="329184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1. SELECT stock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2. if stock &gt; 0: INSERT order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3. UPDATE stock = stock − 1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40480"/>
            <a:ext cx="3657600" cy="233172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36576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86784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Why it fails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07408"/>
            <a:ext cx="3291840" cy="16916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Read-then-write race (write skew)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Retries double-charge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Order down = paid order lost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One hot row = lock queue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4480560" y="1371600"/>
          <a:ext cx="42062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8961120" y="1463040"/>
            <a:ext cx="2679192" cy="470916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645920"/>
            <a:ext cx="24688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6000" b="1">
                <a:solidFill>
                  <a:srgbClr val="EF4444"/>
                </a:solidFill>
                <a:latin typeface="Segoe UI"/>
              </a:rPr>
              <a:t>650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265176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sold by the naive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3291840"/>
            <a:ext cx="24688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59E0B"/>
                </a:solidFill>
                <a:latin typeface="Segoe UI"/>
              </a:rPr>
              <a:t>+550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406908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oversold units = refunds + angry buyers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4937760"/>
            <a:ext cx="24688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Same 10,200 requests, same simulator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Requirements: hard guarantees vs targets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10B981"/>
                </a:solidFill>
                <a:latin typeface="Segoe UI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63040"/>
            <a:ext cx="5440680" cy="470916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463040"/>
            <a:ext cx="54406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609344"/>
            <a:ext cx="5074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Hard guarantees — never break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29968"/>
            <a:ext cx="5074920" cy="4069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214884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14884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B1220"/>
                </a:solidFill>
                <a:latin typeface="Segoe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103120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Never sell unit #101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450592"/>
            <a:ext cx="4389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unit rows + CHECK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313639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136392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B1220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090672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Never charge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438144"/>
            <a:ext cx="4389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Idempotency-Key + UNIQUE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1239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23944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B1220"/>
                </a:solidFill>
                <a:latin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078224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Never lose a paid order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4425696"/>
            <a:ext cx="4389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outbox + inbox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511149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11496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B1220"/>
                </a:solidFill>
                <a:latin typeface="Segoe U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065776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One unit per customer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5413248"/>
            <a:ext cx="4389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UNIQUE(sale, customer)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9632" y="1463040"/>
            <a:ext cx="5440680" cy="470916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9632" y="1463040"/>
            <a:ext cx="544068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2512" y="1609344"/>
            <a:ext cx="5074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Targets — degrade gracefully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2512" y="2029968"/>
            <a:ext cx="5074920" cy="4069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/>
        </p:txBody>
      </p:sp>
      <p:sp>
        <p:nvSpPr>
          <p:cNvPr id="35" name="Oval 34"/>
          <p:cNvSpPr/>
          <p:nvPr/>
        </p:nvSpPr>
        <p:spPr>
          <a:xfrm>
            <a:off x="6428232" y="214884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28232" y="214884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1220"/>
                </a:solidFill>
                <a:latin typeface="Segoe UI"/>
              </a:rPr>
              <a:t>◎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4032" y="2103120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p99 reserve &lt; 200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2450592"/>
            <a:ext cx="4389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at 10k req/s normal</a:t>
            </a:r>
          </a:p>
        </p:txBody>
      </p:sp>
      <p:sp>
        <p:nvSpPr>
          <p:cNvPr id="39" name="Oval 38"/>
          <p:cNvSpPr/>
          <p:nvPr/>
        </p:nvSpPr>
        <p:spPr>
          <a:xfrm>
            <a:off x="6428232" y="3136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28232" y="3136392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1220"/>
                </a:solidFill>
                <a:latin typeface="Segoe UI"/>
              </a:rPr>
              <a:t>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4032" y="3090672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500k req/s peak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3438144"/>
            <a:ext cx="4389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absorbed at CDN + L2</a:t>
            </a:r>
          </a:p>
        </p:txBody>
      </p:sp>
      <p:sp>
        <p:nvSpPr>
          <p:cNvPr id="43" name="Oval 42"/>
          <p:cNvSpPr/>
          <p:nvPr/>
        </p:nvSpPr>
        <p:spPr>
          <a:xfrm>
            <a:off x="6428232" y="4123944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2" y="4123944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1220"/>
                </a:solidFill>
                <a:latin typeface="Segoe UI"/>
              </a:rPr>
              <a:t>◎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14032" y="4078224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99.95% availability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425696"/>
            <a:ext cx="4389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cell isolation, shedding</a:t>
            </a:r>
          </a:p>
        </p:txBody>
      </p:sp>
      <p:sp>
        <p:nvSpPr>
          <p:cNvPr id="47" name="Oval 46"/>
          <p:cNvSpPr/>
          <p:nvPr/>
        </p:nvSpPr>
        <p:spPr>
          <a:xfrm>
            <a:off x="6428232" y="511149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28232" y="5111496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1220"/>
                </a:solidFill>
                <a:latin typeface="Segoe UI"/>
              </a:rPr>
              <a:t>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14032" y="5065776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Reservation hold 5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413248"/>
            <a:ext cx="4389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TTL + sweeper w/ fencing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OUR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Unique factor: the Cache-Hit Ladder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17320"/>
            <a:ext cx="10881360" cy="78638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914400" cy="786384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417320"/>
            <a:ext cx="914400" cy="7863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L0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47218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Browser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182880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Countdown, assets, Buy debounce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1417320"/>
            <a:ext cx="3200400" cy="7863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600" b="1">
                <a:solidFill>
                  <a:srgbClr val="3B82F6"/>
                </a:solidFill>
                <a:latin typeface="Segoe UI"/>
              </a:rPr>
              <a:t>blocks repeat clicks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2331720"/>
            <a:ext cx="10058400" cy="78638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51560" y="2331720"/>
            <a:ext cx="914400" cy="786384"/>
          </a:xfrm>
          <a:prstGeom prst="roundRect">
            <a:avLst>
              <a:gd name="adj" fmla="val 15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331720"/>
            <a:ext cx="914400" cy="7863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L1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39" y="238658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CDN + WAF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39" y="274320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Product pages + SOLD_OUT flag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2331720"/>
            <a:ext cx="3200400" cy="7863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9,921 answered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63040" y="3246120"/>
            <a:ext cx="9235440" cy="78638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63040" y="3246120"/>
            <a:ext cx="914400" cy="786384"/>
          </a:xfrm>
          <a:prstGeom prst="roundRect">
            <a:avLst>
              <a:gd name="adj" fmla="val 15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3040" y="3246120"/>
            <a:ext cx="914400" cy="7863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L2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330098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In-process cache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65760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Hot product &amp; sold-out flag per pod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199" y="3246120"/>
            <a:ext cx="3200400" cy="7863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600" b="1">
                <a:solidFill>
                  <a:srgbClr val="14B8A6"/>
                </a:solidFill>
                <a:latin typeface="Segoe UI"/>
              </a:rPr>
              <a:t>163 answered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74519" y="4160520"/>
            <a:ext cx="8412480" cy="78638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874519" y="4160520"/>
            <a:ext cx="914400" cy="786384"/>
          </a:xfrm>
          <a:prstGeom prst="roundRect">
            <a:avLst>
              <a:gd name="adj" fmla="val 15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74519" y="4160520"/>
            <a:ext cx="914400" cy="7863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L3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4215383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Redis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457200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100 admission tokens + idempotency keys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4160520"/>
            <a:ext cx="3200400" cy="7863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600" b="1">
                <a:solidFill>
                  <a:srgbClr val="A78BFA"/>
                </a:solidFill>
                <a:latin typeface="Segoe UI"/>
              </a:rPr>
              <a:t>7 rejected • 2 replayed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86000" y="5074920"/>
            <a:ext cx="7589520" cy="78638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286000" y="5074920"/>
            <a:ext cx="914400" cy="786384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86000" y="5074920"/>
            <a:ext cx="914400" cy="7863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L4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80" y="5129783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Postgres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83280" y="548640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Unit rows • SKIP LOCKED • UNIQUE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5074920"/>
            <a:ext cx="3200400" cy="7863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Segoe UI"/>
              </a:rPr>
              <a:t>107 reached → 100 sold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Caches can say </a:t>
            </a:r>
            <a:r>
              <a:rPr sz="1500" b="1">
                <a:solidFill>
                  <a:srgbClr val="EF4444"/>
                </a:solidFill>
                <a:latin typeface="Segoe UI"/>
              </a:rPr>
              <a:t>NO</a:t>
            </a:r>
            <a:r>
              <a:rPr sz="1500" b="0">
                <a:solidFill>
                  <a:srgbClr val="9AA8C2"/>
                </a:solidFill>
                <a:latin typeface="Segoe UI"/>
              </a:rPr>
              <a:t>. Only the database can say </a:t>
            </a:r>
            <a:r>
              <a:rPr sz="1500" b="1">
                <a:solidFill>
                  <a:srgbClr val="10B981"/>
                </a:solidFill>
                <a:latin typeface="Segoe UI"/>
              </a:rPr>
              <a:t>YES</a:t>
            </a:r>
            <a:r>
              <a:rPr sz="1500" b="0">
                <a:solidFill>
                  <a:srgbClr val="9AA8C2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06</a:t>
            </a:r>
          </a:p>
        </p:txBody>
      </p:sp>
      <p:sp>
        <p:nvSpPr>
          <p:cNvPr id="6" name="Oval 5"/>
          <p:cNvSpPr/>
          <p:nvPr/>
        </p:nvSpPr>
        <p:spPr>
          <a:xfrm>
            <a:off x="7498079" y="-1371600"/>
            <a:ext cx="6858000" cy="6858000"/>
          </a:xfrm>
          <a:prstGeom prst="ellipse">
            <a:avLst/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78240" y="3291840"/>
            <a:ext cx="4572000" cy="4572000"/>
          </a:xfrm>
          <a:prstGeom prst="ellipse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3657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246120"/>
            <a:ext cx="1463040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8229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High-Level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8229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9AA8C2"/>
                </a:solidFill>
                <a:latin typeface="Segoe UI"/>
              </a:rPr>
              <a:t>Context → architecture → containers → components →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303520"/>
            <a:ext cx="45720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Owner: Student 1 — System Architect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HLD • C4 LEVEL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System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7680960" cy="4892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ystem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2811"/>
            <a:ext cx="7461504" cy="422961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412480" y="1371600"/>
            <a:ext cx="3227832" cy="4892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1371600"/>
            <a:ext cx="3227832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1517904"/>
            <a:ext cx="28620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Actors &amp; externals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1938528"/>
            <a:ext cx="2862072" cy="4251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• Buyers (web / mobile)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• Admin: sale config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• Payment gateway (Razorpay / Stripe)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• Delivery partner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• SMS / e-mail provider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One system boundary; every external call is behind an adapter + breaker.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HLD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High-level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11091672" cy="4892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ld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8119" y="1481328"/>
            <a:ext cx="5552712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HLD • C4 LEVEL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Container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11091672" cy="4892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ntai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790" y="1481328"/>
            <a:ext cx="6579371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HLD • C4 LEVEL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Component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11091672" cy="4892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mpon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865" y="1481328"/>
            <a:ext cx="6689220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HLD •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Deployment &amp; cell isolation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7680960" cy="4892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44683"/>
            <a:ext cx="7461504" cy="434587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412480" y="1371600"/>
            <a:ext cx="3227832" cy="1115568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1371600"/>
            <a:ext cx="82296" cy="111556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1444752"/>
            <a:ext cx="2953512" cy="61356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D3EE"/>
                </a:solidFill>
                <a:latin typeface="Segoe U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1996318"/>
            <a:ext cx="2953512" cy="49084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dedicated flash-sale cell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2624328"/>
            <a:ext cx="3227832" cy="1115568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2624328"/>
            <a:ext cx="82296" cy="11155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41080" y="2697480"/>
            <a:ext cx="2953512" cy="61356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9E0B"/>
                </a:solidFill>
                <a:latin typeface="Segoe UI"/>
              </a:rPr>
              <a:t>&lt;70%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3249046"/>
            <a:ext cx="2953512" cy="49084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target utilisation per tier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3877056"/>
            <a:ext cx="3227832" cy="1115568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3877056"/>
            <a:ext cx="82296" cy="111556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1080" y="3950208"/>
            <a:ext cx="2953512" cy="61356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A78BFA"/>
                </a:solidFill>
                <a:latin typeface="Segoe UI"/>
              </a:rPr>
              <a:t>200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4501774"/>
            <a:ext cx="2953512" cy="49084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requests in flight (Little's law)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5129784"/>
            <a:ext cx="3227832" cy="1115568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12480" y="5129784"/>
            <a:ext cx="82296" cy="11155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41080" y="5202936"/>
            <a:ext cx="2953512" cy="61356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B981"/>
                </a:solidFill>
                <a:latin typeface="Segoe UI"/>
              </a:rPr>
              <a:t>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5754502"/>
            <a:ext cx="2953512" cy="49084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Postgres connection pool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12</a:t>
            </a:r>
          </a:p>
        </p:txBody>
      </p:sp>
      <p:sp>
        <p:nvSpPr>
          <p:cNvPr id="6" name="Oval 5"/>
          <p:cNvSpPr/>
          <p:nvPr/>
        </p:nvSpPr>
        <p:spPr>
          <a:xfrm>
            <a:off x="7498079" y="-1371600"/>
            <a:ext cx="6858000" cy="6858000"/>
          </a:xfrm>
          <a:prstGeom prst="ellipse">
            <a:avLst/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78240" y="3291840"/>
            <a:ext cx="4572000" cy="4572000"/>
          </a:xfrm>
          <a:prstGeom prst="ellipse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3657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0" b="1">
                <a:solidFill>
                  <a:srgbClr val="A78BFA"/>
                </a:solidFill>
                <a:latin typeface="Segoe UI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246120"/>
            <a:ext cx="1463040" cy="7315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8229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Low-Level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8229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9AA8C2"/>
                </a:solidFill>
                <a:latin typeface="Segoe UI"/>
              </a:rPr>
              <a:t>Classes • SOLID • patterns • sequences • state machines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303520"/>
            <a:ext cx="516636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200" b="1">
                <a:solidFill>
                  <a:srgbClr val="A78BFA"/>
                </a:solidFill>
                <a:latin typeface="Segoe UI"/>
              </a:rPr>
              <a:t>Owner: Student 2 — LLD &amp; Design Engineer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78BFA"/>
                </a:solidFill>
                <a:latin typeface="Segoe UI"/>
              </a:rPr>
              <a:t>LLD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Class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A78BFA"/>
                </a:solidFill>
                <a:latin typeface="Segoe UI"/>
              </a:rP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11091672" cy="4892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1756" y="1481328"/>
            <a:ext cx="4265438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78BFA"/>
                </a:solidFill>
                <a:latin typeface="Segoe UI"/>
              </a:rPr>
              <a:t>LLD • PRINCIPLES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SOLID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A78BFA"/>
                </a:solidFill>
                <a:latin typeface="Segoe UI"/>
              </a:rPr>
              <a:t>14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417320"/>
          <a:ext cx="11091672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486400"/>
                <a:gridCol w="3227832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A78BFA"/>
                          </a:solidFill>
                          <a:latin typeface="Segoe UI"/>
                        </a:rPr>
                        <a:t>Principle</a:t>
                      </a:r>
                    </a:p>
                  </a:txBody>
                  <a:tcPr marL="73152" marR="73152" marT="18288" marB="18288" anchor="ctr">
                    <a:solidFill>
                      <a:srgbClr val="1E2B4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A78BFA"/>
                          </a:solidFill>
                          <a:latin typeface="Segoe UI"/>
                        </a:rPr>
                        <a:t>Where in SALESTORM</a:t>
                      </a:r>
                    </a:p>
                  </a:txBody>
                  <a:tcPr marL="73152" marR="73152" marT="18288" marB="18288" anchor="ctr">
                    <a:solidFill>
                      <a:srgbClr val="1E2B4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A78BFA"/>
                          </a:solidFill>
                          <a:latin typeface="Segoe UI"/>
                        </a:rPr>
                        <a:t>Effect</a:t>
                      </a:r>
                    </a:p>
                  </a:txBody>
                  <a:tcPr marL="73152" marR="73152" marT="18288" marB="18288" anchor="ctr">
                    <a:solidFill>
                      <a:srgbClr val="1E2B4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  Single responsibility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9AA8C2"/>
                          </a:solidFill>
                          <a:latin typeface="Segoe UI"/>
                        </a:rPr>
                        <a:t>ReservationService (stock) • PaymentService (money) • OrderService (lifecycle)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9AA8C2"/>
                          </a:solidFill>
                          <a:latin typeface="Segoe UI"/>
                        </a:rPr>
                        <a:t>SMS change never touches payment code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  Open / closed</a:t>
                      </a:r>
                    </a:p>
                  </a:txBody>
                  <a:tcPr marL="73152" marR="73152" marT="18288" marB="18288" anchor="ctr">
                    <a:solidFill>
                      <a:srgbClr val="10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9AA8C2"/>
                          </a:solidFill>
                          <a:latin typeface="Segoe UI"/>
                        </a:rPr>
                        <a:t>PricingStrategy, PaymentGateway adapters, HotKeySaltedTokenPool</a:t>
                      </a:r>
                    </a:p>
                  </a:txBody>
                  <a:tcPr marL="73152" marR="73152" marT="18288" marB="18288" anchor="ctr">
                    <a:solidFill>
                      <a:srgbClr val="10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9AA8C2"/>
                          </a:solidFill>
                          <a:latin typeface="Segoe UI"/>
                        </a:rPr>
                        <a:t>New provider = new class, core unchanged</a:t>
                      </a:r>
                    </a:p>
                  </a:txBody>
                  <a:tcPr marL="73152" marR="73152" marT="18288" marB="18288" anchor="ctr">
                    <a:solidFill>
                      <a:srgbClr val="101A2E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L  Liskov substitution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9AA8C2"/>
                          </a:solidFill>
                          <a:latin typeface="Segoe UI"/>
                        </a:rPr>
                        <a:t>Razorpay, Stripe, CircuitBreakerGateway honour one contract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9AA8C2"/>
                          </a:solidFill>
                          <a:latin typeface="Segoe UI"/>
                        </a:rPr>
                        <a:t>PaymentService works with any of them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  Interface segregation</a:t>
                      </a:r>
                    </a:p>
                  </a:txBody>
                  <a:tcPr marL="73152" marR="73152" marT="18288" marB="18288" anchor="ctr">
                    <a:solidFill>
                      <a:srgbClr val="10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9AA8C2"/>
                          </a:solidFill>
                          <a:latin typeface="Segoe UI"/>
                        </a:rPr>
                        <a:t>TokenPool, IdempotencyStore, InventoryUnitRepository, OrderObserver</a:t>
                      </a:r>
                    </a:p>
                  </a:txBody>
                  <a:tcPr marL="73152" marR="73152" marT="18288" marB="18288" anchor="ctr">
                    <a:solidFill>
                      <a:srgbClr val="10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9AA8C2"/>
                          </a:solidFill>
                          <a:latin typeface="Segoe UI"/>
                        </a:rPr>
                        <a:t>No giant InventoryManager</a:t>
                      </a:r>
                    </a:p>
                  </a:txBody>
                  <a:tcPr marL="73152" marR="73152" marT="18288" marB="18288" anchor="ctr">
                    <a:solidFill>
                      <a:srgbClr val="101A2E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D  Dependency inversion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9AA8C2"/>
                          </a:solidFill>
                          <a:latin typeface="Segoe UI"/>
                        </a:rPr>
                        <a:t>Services depend on TokenPool / PaymentGateway / LeaseManager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9AA8C2"/>
                          </a:solidFill>
                          <a:latin typeface="Segoe UI"/>
                        </a:rPr>
                        <a:t>Redis swappable; DB fallback is just another TokenPool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78BFA"/>
                </a:solidFill>
                <a:latin typeface="Segoe UI"/>
              </a:rPr>
              <a:t>LLD •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Design patterns and 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A78BFA"/>
                </a:solidFill>
                <a:latin typeface="Segoe UI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3593592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45920"/>
            <a:ext cx="566928" cy="56692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645920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B1220"/>
                </a:solidFill>
                <a:latin typeface="Segoe UI"/>
              </a:rPr>
              <a:t>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55448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Facade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192024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CheckoutFacade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258568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One entry for reserve → pay → order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1417320"/>
            <a:ext cx="3593592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59" y="1645920"/>
            <a:ext cx="566928" cy="56692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1645920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B1220"/>
                </a:solidFill>
                <a:latin typeface="Segoe UI"/>
              </a:rPr>
              <a:t>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79" y="155448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Saga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192024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CheckoutSaga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79" y="2258568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Compensate: void auth, release unit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19" y="1417320"/>
            <a:ext cx="3593592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599" y="1645920"/>
            <a:ext cx="566928" cy="566928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9" y="1645920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B1220"/>
                </a:solidFill>
                <a:latin typeface="Segoe UI"/>
              </a:rPr>
              <a:t>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19" y="155448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Strategy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19" y="192024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A78BFA"/>
                </a:solidFill>
                <a:latin typeface="Segoe UI"/>
              </a:rPr>
              <a:t>PricingStrategy, TokenPool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19" y="2258568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Swap pricing / admission policy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044952"/>
            <a:ext cx="3593592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3273552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273552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B1220"/>
                </a:solidFill>
                <a:latin typeface="Segoe UI"/>
              </a:rPr>
              <a:t>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3182112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Factory + 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3547872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PaymentProviderFactory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388620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Razorpay ↔ Stripe without code change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79" y="3044952"/>
            <a:ext cx="3593592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80559" y="3273552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59" y="3273552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B1220"/>
                </a:solidFill>
                <a:latin typeface="Segoe UI"/>
              </a:rPr>
              <a:t>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182112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Decorator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3547872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CircuitBreakerGateway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79" y="388620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Breaker wraps any gateway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19" y="3044952"/>
            <a:ext cx="3593592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29599" y="3273552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599" y="3273552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B1220"/>
                </a:solidFill>
                <a:latin typeface="Segoe UI"/>
              </a:rPr>
              <a:t>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19" y="3182112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State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19" y="3547872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0B981"/>
                </a:solidFill>
                <a:latin typeface="Segoe UI"/>
              </a:rPr>
              <a:t>OrderState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9" y="388620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Illegal transitions impossible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4672584"/>
            <a:ext cx="3593592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1520" y="4901184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4901184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B1220"/>
                </a:solidFill>
                <a:latin typeface="Segoe UI"/>
              </a:rPr>
              <a:t>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63040" y="48097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Observer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63040" y="5175504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0B981"/>
                </a:solidFill>
                <a:latin typeface="Segoe UI"/>
              </a:rPr>
              <a:t>OrderEventPublisher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63040" y="5513832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Notify, ship, analytics decoupled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97679" y="4672584"/>
            <a:ext cx="3593592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480559" y="4901184"/>
            <a:ext cx="566928" cy="5669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0559" y="4901184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B1220"/>
                </a:solidFill>
                <a:latin typeface="Segoe UI"/>
              </a:rPr>
              <a:t>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12079" y="48097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Outbox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12079" y="5175504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B82F6"/>
                </a:solidFill>
                <a:latin typeface="Segoe UI"/>
              </a:rPr>
              <a:t>outbox_event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79" y="5513832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Event + data in one transaction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46719" y="4672584"/>
            <a:ext cx="3593592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229599" y="4901184"/>
            <a:ext cx="566928" cy="5669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599" y="4901184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B1220"/>
                </a:solidFill>
                <a:latin typeface="Segoe UI"/>
              </a:rPr>
              <a:t>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61119" y="48097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Repository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61119" y="5175504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B82F6"/>
                </a:solidFill>
                <a:latin typeface="Segoe UI"/>
              </a:rPr>
              <a:t>InventoryUnitRepository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61119" y="5513832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SQL hidden behind interface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78BFA"/>
                </a:solidFill>
                <a:latin typeface="Segoe UI"/>
              </a:rPr>
              <a:t>LLD • SEQUENCE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Sequence: Buy Now → reservation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A78BFA"/>
                </a:solidFill>
                <a:latin typeface="Segoe UI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11091672" cy="4892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eq_re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449" y="1481328"/>
            <a:ext cx="7214052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LLD • SEQUENCE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Payment: authorize, then capture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F59E0B"/>
                </a:solidFill>
                <a:latin typeface="Segoe UI"/>
              </a:rPr>
              <a:t>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7680960" cy="4892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eq_pa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711" y="1481328"/>
            <a:ext cx="6148817" cy="467258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412480" y="1371600"/>
            <a:ext cx="3227832" cy="1536192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1371600"/>
            <a:ext cx="3227832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1517904"/>
            <a:ext cx="28620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Idempotency-Key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1938528"/>
            <a:ext cx="2862072" cy="8961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Duplicate → same stored answer, never a second charge.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3044952"/>
            <a:ext cx="3227832" cy="1536192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3044952"/>
            <a:ext cx="3227832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59" y="3191256"/>
            <a:ext cx="28620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Fencing version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59" y="3611880"/>
            <a:ext cx="2862072" cy="8961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Payment after TTL expiry fails the version check → auth voided.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4718304"/>
            <a:ext cx="3227832" cy="1545336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4718304"/>
            <a:ext cx="3227832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59" y="4864608"/>
            <a:ext cx="28620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Failure = 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59" y="5285232"/>
            <a:ext cx="2862072" cy="9052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Declined payment returns the unit to the pool for the next buyer.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78BFA"/>
                </a:solidFill>
                <a:latin typeface="Segoe UI"/>
              </a:rPr>
              <a:t>LLD • STATE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State machines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A78BFA"/>
                </a:solidFill>
                <a:latin typeface="Segoe UI"/>
              </a:rPr>
              <a:t>18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5394960" cy="4892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tate_re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25863"/>
            <a:ext cx="5175504" cy="23835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45352" y="1371600"/>
            <a:ext cx="5394960" cy="4892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tate_or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686888"/>
            <a:ext cx="5175504" cy="226146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19</a:t>
            </a:r>
          </a:p>
        </p:txBody>
      </p:sp>
      <p:sp>
        <p:nvSpPr>
          <p:cNvPr id="6" name="Oval 5"/>
          <p:cNvSpPr/>
          <p:nvPr/>
        </p:nvSpPr>
        <p:spPr>
          <a:xfrm>
            <a:off x="7498079" y="-1371600"/>
            <a:ext cx="6858000" cy="6858000"/>
          </a:xfrm>
          <a:prstGeom prst="ellipse">
            <a:avLst/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78240" y="3291840"/>
            <a:ext cx="4572000" cy="4572000"/>
          </a:xfrm>
          <a:prstGeom prst="ellipse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3657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0" b="1">
                <a:solidFill>
                  <a:srgbClr val="F59E0B"/>
                </a:solidFill>
                <a:latin typeface="Segoe UI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246120"/>
            <a:ext cx="146304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8229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Data, API &amp;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8229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9AA8C2"/>
                </a:solidFill>
                <a:latin typeface="Segoe UI"/>
              </a:rPr>
              <a:t>22 tables • idempotent REST API • outbox + inbox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303520"/>
            <a:ext cx="4928616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Owner: Student 3 — Data &amp; API Engineer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ER diagram — PostgreSQL, 22 tables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F59E0B"/>
                </a:solidFill>
                <a:latin typeface="Segoe UI"/>
              </a:rPr>
              <a:t>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11091672" cy="4343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17324"/>
            <a:ext cx="10872216" cy="32519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870448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one row per unit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5320" y="5870448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200" b="1">
                <a:solidFill>
                  <a:srgbClr val="10B981"/>
                </a:solidFill>
                <a:latin typeface="Segoe UI"/>
              </a:rPr>
              <a:t>UNIQUE per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2001" y="5870448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idempotency_record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8682" y="5870448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200" b="1">
                <a:solidFill>
                  <a:srgbClr val="A78BFA"/>
                </a:solidFill>
                <a:latin typeface="Segoe UI"/>
              </a:rPr>
              <a:t>outbox (same TX)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5363" y="5870448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200" b="1">
                <a:solidFill>
                  <a:srgbClr val="EF4444"/>
                </a:solidFill>
                <a:latin typeface="Segoe UI"/>
              </a:rPr>
              <a:t>inbox + lease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API • OPENAPI / SWAGGER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API &amp; idempotency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F59E0B"/>
                </a:solidFill>
                <a:latin typeface="Segoe UI"/>
              </a:rPr>
              <a:t>21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371600"/>
          <a:ext cx="69494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291840"/>
                <a:gridCol w="27432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59E0B"/>
                          </a:solidFill>
                          <a:latin typeface="Segoe UI"/>
                        </a:rPr>
                        <a:t>Method</a:t>
                      </a:r>
                    </a:p>
                  </a:txBody>
                  <a:tcPr marL="73152" marR="73152" marT="18288" marB="18288" anchor="ctr">
                    <a:solidFill>
                      <a:srgbClr val="1E2B4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59E0B"/>
                          </a:solidFill>
                          <a:latin typeface="Segoe UI"/>
                        </a:rPr>
                        <a:t>Endpoint</a:t>
                      </a:r>
                    </a:p>
                  </a:txBody>
                  <a:tcPr marL="73152" marR="73152" marT="18288" marB="18288" anchor="ctr">
                    <a:solidFill>
                      <a:srgbClr val="1E2B4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59E0B"/>
                          </a:solidFill>
                          <a:latin typeface="Segoe UI"/>
                        </a:rPr>
                        <a:t>Key responses</a:t>
                      </a:r>
                    </a:p>
                  </a:txBody>
                  <a:tcPr marL="73152" marR="73152" marT="18288" marB="18288" anchor="ctr">
                    <a:solidFill>
                      <a:srgbClr val="1E2B4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AA8C2"/>
                          </a:solidFill>
                          <a:latin typeface="Segoe UI"/>
                        </a:rPr>
                        <a:t>/sales/{id}/stock-status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AA8C2"/>
                          </a:solidFill>
                          <a:latin typeface="Segoe UI"/>
                        </a:rPr>
                        <a:t>200 • CDN max-age=1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 marL="73152" marR="73152" marT="18288" marB="18288" anchor="ctr">
                    <a:solidFill>
                      <a:srgbClr val="10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AA8C2"/>
                          </a:solidFill>
                          <a:latin typeface="Segoe UI"/>
                        </a:rPr>
                        <a:t>/sales/{id}/reservations</a:t>
                      </a:r>
                    </a:p>
                  </a:txBody>
                  <a:tcPr marL="73152" marR="73152" marT="18288" marB="18288" anchor="ctr">
                    <a:solidFill>
                      <a:srgbClr val="10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AA8C2"/>
                          </a:solidFill>
                          <a:latin typeface="Segoe UI"/>
                        </a:rPr>
                        <a:t>201 • 200 replay • 409 • 503</a:t>
                      </a:r>
                    </a:p>
                  </a:txBody>
                  <a:tcPr marL="73152" marR="73152" marT="18288" marB="18288" anchor="ctr">
                    <a:solidFill>
                      <a:srgbClr val="101A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AA8C2"/>
                          </a:solidFill>
                          <a:latin typeface="Segoe UI"/>
                        </a:rPr>
                        <a:t>/checkout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AA8C2"/>
                          </a:solidFill>
                          <a:latin typeface="Segoe UI"/>
                        </a:rPr>
                        <a:t>200 • 409 expired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 marL="73152" marR="73152" marT="18288" marB="18288" anchor="ctr">
                    <a:solidFill>
                      <a:srgbClr val="10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AA8C2"/>
                          </a:solidFill>
                          <a:latin typeface="Segoe UI"/>
                        </a:rPr>
                        <a:t>/payments</a:t>
                      </a:r>
                    </a:p>
                  </a:txBody>
                  <a:tcPr marL="73152" marR="73152" marT="18288" marB="18288" anchor="ctr">
                    <a:solidFill>
                      <a:srgbClr val="10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AA8C2"/>
                          </a:solidFill>
                          <a:latin typeface="Segoe UI"/>
                        </a:rPr>
                        <a:t>202 • 402 • 503 breaker</a:t>
                      </a:r>
                    </a:p>
                  </a:txBody>
                  <a:tcPr marL="73152" marR="73152" marT="18288" marB="18288" anchor="ctr">
                    <a:solidFill>
                      <a:srgbClr val="101A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AA8C2"/>
                          </a:solidFill>
                          <a:latin typeface="Segoe UI"/>
                        </a:rPr>
                        <a:t>/payments/webhook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AA8C2"/>
                          </a:solidFill>
                          <a:latin typeface="Segoe UI"/>
                        </a:rPr>
                        <a:t>200 • 401 bad HMAC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 marL="73152" marR="73152" marT="18288" marB="18288" anchor="ctr">
                    <a:solidFill>
                      <a:srgbClr val="10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AA8C2"/>
                          </a:solidFill>
                          <a:latin typeface="Segoe UI"/>
                        </a:rPr>
                        <a:t>/orders/{id}</a:t>
                      </a:r>
                    </a:p>
                  </a:txBody>
                  <a:tcPr marL="73152" marR="73152" marT="18288" marB="18288" anchor="ctr">
                    <a:solidFill>
                      <a:srgbClr val="10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AA8C2"/>
                          </a:solidFill>
                          <a:latin typeface="Segoe UI"/>
                        </a:rPr>
                        <a:t>200 order + state</a:t>
                      </a:r>
                    </a:p>
                  </a:txBody>
                  <a:tcPr marL="73152" marR="73152" marT="18288" marB="18288" anchor="ctr">
                    <a:solidFill>
                      <a:srgbClr val="101A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AA8C2"/>
                          </a:solidFill>
                          <a:latin typeface="Segoe UI"/>
                        </a:rPr>
                        <a:t>/orders/{id}/cancel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9AA8C2"/>
                          </a:solidFill>
                          <a:latin typeface="Segoe UI"/>
                        </a:rPr>
                        <a:t>202 • 409 shipped</a:t>
                      </a:r>
                    </a:p>
                  </a:txBody>
                  <a:tcPr marL="73152" marR="73152" marT="18288" marB="18288" anchor="ctr">
                    <a:solidFill>
                      <a:srgbClr val="15203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726679" y="1371600"/>
            <a:ext cx="3913632" cy="15544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3913632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59" y="1517904"/>
            <a:ext cx="35478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Idempotency-Key header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59" y="1938528"/>
            <a:ext cx="3547872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Same key → same stored response (200 replay). 2 replays in the sim, 0 double charges.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3063240"/>
            <a:ext cx="3913632" cy="141732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26679" y="3063240"/>
            <a:ext cx="3913632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59" y="3209544"/>
            <a:ext cx="35478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409 SOLD_OUT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59" y="3630168"/>
            <a:ext cx="3547872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Also 409 ALREADY_RESERVED. Fast, cacheable NO — from L1, L2 or L3.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26679" y="4617720"/>
            <a:ext cx="3913632" cy="164592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26679" y="4617720"/>
            <a:ext cx="3913632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59" y="4764024"/>
            <a:ext cx="35478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503 + Retry-After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59" y="5184648"/>
            <a:ext cx="354787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Waiting room under overload: tells clients when to come back instead of hammering us.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EVENTS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Events: transactional outbox + inbox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F59E0B"/>
                </a:solidFill>
                <a:latin typeface="Segoe UI"/>
              </a:rPr>
              <a:t>22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54480"/>
            <a:ext cx="1965960" cy="20116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54480"/>
            <a:ext cx="1965960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34440" y="1783080"/>
            <a:ext cx="594360" cy="59436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1783080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68880"/>
            <a:ext cx="1783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Service 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834640"/>
            <a:ext cx="1783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write data + outbox row in ONE commit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542032" y="2377440"/>
            <a:ext cx="274320" cy="365760"/>
          </a:xfrm>
          <a:prstGeom prst="rightArrow">
            <a:avLst/>
          </a:prstGeom>
          <a:solidFill>
            <a:srgbClr val="9AA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34640" y="1554480"/>
            <a:ext cx="1965960" cy="20116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34640" y="1554480"/>
            <a:ext cx="1965960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20440" y="1783080"/>
            <a:ext cx="594360" cy="59436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1783080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468880"/>
            <a:ext cx="1783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Relay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2834640"/>
            <a:ext cx="1783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polls outbox → publishes to Kafka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828032" y="2377440"/>
            <a:ext cx="274320" cy="365760"/>
          </a:xfrm>
          <a:prstGeom prst="rightArrow">
            <a:avLst/>
          </a:prstGeom>
          <a:solidFill>
            <a:srgbClr val="9AA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120640" y="1554480"/>
            <a:ext cx="1965960" cy="20116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0" y="1554480"/>
            <a:ext cx="1965960" cy="6400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806440" y="1783080"/>
            <a:ext cx="594360" cy="59436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1783080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79" y="2468880"/>
            <a:ext cx="1783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Kafka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79" y="2834640"/>
            <a:ext cx="1783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durable, replayable log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114031" y="2377440"/>
            <a:ext cx="274320" cy="365760"/>
          </a:xfrm>
          <a:prstGeom prst="rightArrow">
            <a:avLst/>
          </a:prstGeom>
          <a:solidFill>
            <a:srgbClr val="9AA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406640" y="1554480"/>
            <a:ext cx="1965960" cy="20116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06640" y="1554480"/>
            <a:ext cx="196596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92440" y="1783080"/>
            <a:ext cx="594360" cy="5943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92440" y="1783080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B1220"/>
                </a:solidFill>
                <a:latin typeface="Segoe U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2468880"/>
            <a:ext cx="1783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Inbox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2834640"/>
            <a:ext cx="1783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INSERT message_id; duplicate = skip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400032" y="2377440"/>
            <a:ext cx="274320" cy="365760"/>
          </a:xfrm>
          <a:prstGeom prst="rightArrow">
            <a:avLst/>
          </a:prstGeom>
          <a:solidFill>
            <a:srgbClr val="9AA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692640" y="1554480"/>
            <a:ext cx="1965960" cy="20116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92640" y="1554480"/>
            <a:ext cx="196596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378440" y="1783080"/>
            <a:ext cx="594360" cy="5943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378440" y="1783080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B1220"/>
                </a:solidFill>
                <a:latin typeface="Segoe UI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84080" y="2468880"/>
            <a:ext cx="1783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Consumer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0" y="2834640"/>
            <a:ext cx="1783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Order / Shipment / Notification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393192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3931920"/>
            <a:ext cx="82296" cy="224028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4005072"/>
            <a:ext cx="3291840" cy="123215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A78BFA"/>
                </a:solidFill>
                <a:latin typeface="Segoe UI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186476"/>
            <a:ext cx="3291840" cy="985723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events lost — outbox commits with the data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15968" y="393192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15968" y="3931920"/>
            <a:ext cx="82296" cy="22402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44568" y="4005072"/>
            <a:ext cx="3291840" cy="123215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10B981"/>
                </a:solidFill>
                <a:latin typeface="Segoe UI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44568" y="5186476"/>
            <a:ext cx="3291840" cy="985723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duplicate orders with inbox (13 without)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2" y="393192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74152" y="3931920"/>
            <a:ext cx="82296" cy="22402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02752" y="4005072"/>
            <a:ext cx="3291840" cy="123215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59E0B"/>
                </a:solidFill>
                <a:latin typeface="Segoe UI"/>
              </a:rPr>
              <a:t>Watermark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2752" y="5186476"/>
            <a:ext cx="3291840" cy="985723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event time vs processing time → late events reconciled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23</a:t>
            </a:r>
          </a:p>
        </p:txBody>
      </p:sp>
      <p:sp>
        <p:nvSpPr>
          <p:cNvPr id="6" name="Oval 5"/>
          <p:cNvSpPr/>
          <p:nvPr/>
        </p:nvSpPr>
        <p:spPr>
          <a:xfrm>
            <a:off x="7498079" y="-1371600"/>
            <a:ext cx="6858000" cy="6858000"/>
          </a:xfrm>
          <a:prstGeom prst="ellipse">
            <a:avLst/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78240" y="3291840"/>
            <a:ext cx="4572000" cy="4572000"/>
          </a:xfrm>
          <a:prstGeom prst="ellipse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3657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0" b="1">
                <a:solidFill>
                  <a:srgbClr val="10B981"/>
                </a:solidFill>
                <a:latin typeface="Segoe UI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246120"/>
            <a:ext cx="1463040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8229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Concurrency &amp; Reliability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8229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9AA8C2"/>
                </a:solidFill>
                <a:latin typeface="Segoe UI"/>
              </a:rPr>
              <a:t>SKIP LOCKED • 14 failure modes • resilience controls • proof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303520"/>
            <a:ext cx="5047488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200" b="1">
                <a:solidFill>
                  <a:srgbClr val="10B981"/>
                </a:solidFill>
                <a:latin typeface="Segoe UI"/>
              </a:rPr>
              <a:t>Owner: Student 4 — Reliability Engineer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RELIABILITY • INVENTORY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Concurrency: no oversell,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10B981"/>
                </a:solidFill>
                <a:latin typeface="Segoe UI"/>
              </a:rPr>
              <a:t>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5669280" cy="4892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ncurrenc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98" y="1481328"/>
            <a:ext cx="5277762" cy="467258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46520" y="1371600"/>
            <a:ext cx="5193792" cy="13716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444752"/>
            <a:ext cx="48463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D3EE"/>
                </a:solidFill>
                <a:latin typeface="Consolas"/>
              </a:rPr>
              <a:t>SELECT id FROM inventory_unit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D3EE"/>
                </a:solidFill>
                <a:latin typeface="Consolas"/>
              </a:rPr>
              <a:t>WHERE sale_id=$1 AND status='AVAILABLE'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D3EE"/>
                </a:solidFill>
                <a:latin typeface="Consolas"/>
              </a:rPr>
              <a:t>LIMIT 1 FOR UPDATE SKIP LOCKED;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2880360"/>
            <a:ext cx="5193792" cy="105156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2880360"/>
            <a:ext cx="5193792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026664"/>
            <a:ext cx="4828031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Write skew prevented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447288"/>
            <a:ext cx="4828031" cy="4114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Each buyer locks a different row — no read-then-write race.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4041648"/>
            <a:ext cx="5193792" cy="105156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4041648"/>
            <a:ext cx="5193792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4187952"/>
            <a:ext cx="4828031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No hot-row queue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608576"/>
            <a:ext cx="4828031" cy="4114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SKIP LOCKED: parallel claims, nobody waits on a lock.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5202936"/>
            <a:ext cx="5193792" cy="10607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46520" y="5202936"/>
            <a:ext cx="5193792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5349240"/>
            <a:ext cx="4828031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DB is the last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769864"/>
            <a:ext cx="4828031" cy="420623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CHECK(status) + partial UNIQUE(sale, customer).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RELIABILITY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14 production failure modes we designed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10B981"/>
                </a:solidFill>
                <a:latin typeface="Segoe UI"/>
              </a:rPr>
              <a:t>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5468112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37160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37160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1399032"/>
            <a:ext cx="2148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Metastable failure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1399032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Load shedder + admission + retry budget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057400"/>
            <a:ext cx="5468112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205740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05740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2084831"/>
            <a:ext cx="2148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Retry storm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2084831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Idempotent-only retries, jitter, 10% budget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743200"/>
            <a:ext cx="5468112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74320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4320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19" y="2770632"/>
            <a:ext cx="2148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Tail latency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2770632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Hedged reads at p95 (reads only)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429000"/>
            <a:ext cx="5468112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342900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42900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19" y="3456432"/>
            <a:ext cx="2148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Cache stampede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3456432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Singleflight + TTL jitter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14800"/>
            <a:ext cx="5468112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11480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11480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19" y="4142232"/>
            <a:ext cx="2148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Hot key (the SKU)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7560" y="4142232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16 salted Redis sub-pools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4800600"/>
            <a:ext cx="5468112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" y="480060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80060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8719" y="4828032"/>
            <a:ext cx="2148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Duplicate delivery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37560" y="4828032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Outbox + inbox = effectively-once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486400"/>
            <a:ext cx="5468112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48640" y="548640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48640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719" y="5513832"/>
            <a:ext cx="2148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Split-brain leader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5513832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Lease + fencing token checked by Postgres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1371600"/>
            <a:ext cx="5468112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172200" y="137160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72200" y="137160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12280" y="1399032"/>
            <a:ext cx="2148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Gray failure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0" y="1399032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Real-traffic health, phi-accrual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72200" y="2057400"/>
            <a:ext cx="5468112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172200" y="205740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72200" y="205740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12280" y="2084831"/>
            <a:ext cx="2148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Unbalanced backends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61120" y="2084831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Power of two choices (in-flight)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2200" y="2743200"/>
            <a:ext cx="5468112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72200" y="274320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72200" y="274320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12280" y="2770632"/>
            <a:ext cx="2148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Capacity guesswork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1120" y="2770632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Little's law, pool 40, &lt;70% util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72200" y="3429000"/>
            <a:ext cx="5468112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72200" y="342900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72200" y="342900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12280" y="3456432"/>
            <a:ext cx="2148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Write skew (oversell)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61120" y="3456432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Unit rows + SKIP LOCKED + UNIQUE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72200" y="4114800"/>
            <a:ext cx="5468112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172200" y="411480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72200" y="411480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4142232"/>
            <a:ext cx="2148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Late events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61120" y="4142232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Event time + watermark → reconcile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72200" y="4800600"/>
            <a:ext cx="5468112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172200" y="480060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72200" y="480060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13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12280" y="4828032"/>
            <a:ext cx="2148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Blast radius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61120" y="4828032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Flash sale in its own cell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72200" y="5486400"/>
            <a:ext cx="5468112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172200" y="548640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72200" y="548640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12280" y="5513832"/>
            <a:ext cx="2148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Coordinated omission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61120" y="5513832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Open-loop load tests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" y="6108192"/>
            <a:ext cx="1109167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"We would rather reject 5% of requests than let retries turn a blip into a 40-minute outage."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RELIABILITY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Resilience controls on the request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10B981"/>
                </a:solidFill>
                <a:latin typeface="Segoe UI"/>
              </a:rPr>
              <a:t>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7680960" cy="4892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silience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283"/>
            <a:ext cx="7461504" cy="439867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412480" y="1417320"/>
            <a:ext cx="3227832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100" b="1">
                <a:solidFill>
                  <a:srgbClr val="EF4444"/>
                </a:solidFill>
                <a:latin typeface="Segoe UI"/>
              </a:rPr>
              <a:t>Load shedder → 503 + Retry-After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1956816"/>
            <a:ext cx="3227832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100" b="1">
                <a:solidFill>
                  <a:srgbClr val="EF4444"/>
                </a:solidFill>
                <a:latin typeface="Segoe UI"/>
              </a:rPr>
              <a:t>Retry budget 10% + full jitter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496312"/>
            <a:ext cx="3227832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Circuit breaker (Decorator)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3035808"/>
            <a:ext cx="3227832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Singleflight cache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3575304"/>
            <a:ext cx="3227832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100" b="1">
                <a:solidFill>
                  <a:srgbClr val="A78BFA"/>
                </a:solidFill>
                <a:latin typeface="Segoe UI"/>
              </a:rPr>
              <a:t>16 salted token pools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114800"/>
            <a:ext cx="3227832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100" b="1">
                <a:solidFill>
                  <a:srgbClr val="A78BFA"/>
                </a:solidFill>
                <a:latin typeface="Segoe UI"/>
              </a:rPr>
              <a:t>Lease + fencing token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4654296"/>
            <a:ext cx="3227832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100" b="1">
                <a:solidFill>
                  <a:srgbClr val="22D3EE"/>
                </a:solidFill>
                <a:latin typeface="Segoe UI"/>
              </a:rPr>
              <a:t>P2C load balancing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5193792"/>
            <a:ext cx="3227832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100" b="1">
                <a:solidFill>
                  <a:srgbClr val="22D3EE"/>
                </a:solidFill>
                <a:latin typeface="Segoe UI"/>
              </a:rPr>
              <a:t>Phi-accrual outlier ejection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5733288"/>
            <a:ext cx="3227832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100" b="1">
                <a:solidFill>
                  <a:srgbClr val="10B981"/>
                </a:solidFill>
                <a:latin typeface="Segoe UI"/>
              </a:rPr>
              <a:t>Inbox dedupe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VALIDATION • 11_AI_ASSISTED_VALIDATION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Proof: simulation of the exact test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10B981"/>
                </a:solidFill>
                <a:latin typeface="Segoe UI"/>
              </a:rPr>
              <a:t>27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2651760" cy="118872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71600"/>
            <a:ext cx="82296" cy="11887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444752"/>
            <a:ext cx="2377440" cy="6537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D3EE"/>
                </a:solidFill>
                <a:latin typeface="Segoe UI"/>
              </a:rPr>
              <a:t>10,200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037283"/>
            <a:ext cx="2377440" cy="5230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requests incl. duplicates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4992" y="1371600"/>
            <a:ext cx="2651760" cy="118872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4992" y="1371600"/>
            <a:ext cx="82296" cy="1188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2" y="1444752"/>
            <a:ext cx="2377440" cy="6537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9E0B"/>
                </a:solidFill>
                <a:latin typeface="Segoe UI"/>
              </a:rPr>
              <a:t>107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037283"/>
            <a:ext cx="2377440" cy="5230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reached Postgres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1371600"/>
            <a:ext cx="2651760" cy="118872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1344" y="1371600"/>
            <a:ext cx="82296" cy="1188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9944" y="1444752"/>
            <a:ext cx="2377440" cy="6537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B981"/>
                </a:solidFill>
                <a:latin typeface="Segoe UI"/>
              </a:rPr>
              <a:t>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2037283"/>
            <a:ext cx="2377440" cy="5230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sold — exactly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1371600"/>
            <a:ext cx="2651760" cy="118872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97696" y="1371600"/>
            <a:ext cx="82296" cy="11887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6296" y="1444752"/>
            <a:ext cx="2377440" cy="6537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A78BFA"/>
                </a:solidFill>
                <a:latin typeface="Segoe UI"/>
              </a:rPr>
              <a:t>415 /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2037283"/>
            <a:ext cx="2377440" cy="5230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invariant checks / violations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548640" y="2697480"/>
          <a:ext cx="603504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6766560" y="2697480"/>
          <a:ext cx="4873752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VALIDATION • RESILIENCE_SIM.PY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Proof: resilience experiments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10B981"/>
                </a:solidFill>
                <a:latin typeface="Segoe UI"/>
              </a:rPr>
              <a:t>28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48640" y="1371600"/>
          <a:ext cx="3657600" cy="2423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270248" y="1371600"/>
          <a:ext cx="3657600" cy="2423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982712" y="1371600"/>
          <a:ext cx="3657600" cy="2423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4023360"/>
            <a:ext cx="26517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023360"/>
            <a:ext cx="82296" cy="22402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96512"/>
            <a:ext cx="2377440" cy="123215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B981"/>
                </a:solidFill>
                <a:latin typeface="Segoe UI"/>
              </a:rPr>
              <a:t>97.2%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77916"/>
            <a:ext cx="2377440" cy="985723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goodput, recovered &lt; 1 s (naive never recovered)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64992" y="4023360"/>
            <a:ext cx="26517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64992" y="4023360"/>
            <a:ext cx="82296" cy="22402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4096512"/>
            <a:ext cx="2377440" cy="123215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59E0B"/>
                </a:solidFill>
                <a:latin typeface="Segoe UI"/>
              </a:rPr>
              <a:t>2,000 →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3592" y="5277916"/>
            <a:ext cx="2377440" cy="985723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cache misses → DB reads (singleflight)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4023360"/>
            <a:ext cx="26517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1344" y="4023360"/>
            <a:ext cx="82296" cy="224028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4096512"/>
            <a:ext cx="2377440" cy="123215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A78BFA"/>
                </a:solidFill>
                <a:latin typeface="Segoe UI"/>
              </a:rPr>
              <a:t>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5277916"/>
            <a:ext cx="2377440" cy="985723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max ops on one key (16 salted pools, 10k buyers)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97696" y="4023360"/>
            <a:ext cx="26517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97696" y="4023360"/>
            <a:ext cx="82296" cy="224028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26296" y="4096512"/>
            <a:ext cx="2377440" cy="123215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F4444"/>
                </a:solidFill>
                <a:latin typeface="Segoe UI"/>
              </a:rPr>
              <a:t>1 → 1,902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6296" y="5277916"/>
            <a:ext cx="2377440" cy="985723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p99 closed-loop (lies) vs open-loop (truth)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RELIABILITY •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30 s Order Service outage — recovery timeline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10B981"/>
                </a:solidFill>
                <a:latin typeface="Segoe UI"/>
              </a:rPr>
              <a:t>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017520"/>
            <a:ext cx="10515600" cy="7315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26080" y="2944368"/>
            <a:ext cx="4206240" cy="219456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251460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F4444"/>
                </a:solidFill>
                <a:latin typeface="Segoe UI"/>
              </a:rPr>
              <a:t>Order Service DOWN (30 s)</a:t>
            </a:r>
          </a:p>
        </p:txBody>
      </p:sp>
      <p:sp>
        <p:nvSpPr>
          <p:cNvPr id="14" name="Oval 13"/>
          <p:cNvSpPr/>
          <p:nvPr/>
        </p:nvSpPr>
        <p:spPr>
          <a:xfrm>
            <a:off x="1417320" y="2816352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2816352"/>
            <a:ext cx="4572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0B1220"/>
                </a:solidFill>
                <a:latin typeface="Segoe UI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155448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Segoe UI"/>
              </a:rPr>
              <a:t>t = 0 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6616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630168"/>
            <a:ext cx="16459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Sale live; orders flowing</a:t>
            </a:r>
          </a:p>
        </p:txBody>
      </p:sp>
      <p:sp>
        <p:nvSpPr>
          <p:cNvPr id="19" name="Oval 18"/>
          <p:cNvSpPr/>
          <p:nvPr/>
        </p:nvSpPr>
        <p:spPr>
          <a:xfrm>
            <a:off x="3429000" y="2816352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2816352"/>
            <a:ext cx="4572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0B1220"/>
                </a:solidFill>
                <a:latin typeface="Segoe UI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155448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F4444"/>
                </a:solidFill>
                <a:latin typeface="Segoe UI"/>
              </a:rPr>
              <a:t>t = 5 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356616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4640" y="3630168"/>
            <a:ext cx="16459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Order crashes; reservations + payments continue</a:t>
            </a:r>
          </a:p>
        </p:txBody>
      </p:sp>
      <p:sp>
        <p:nvSpPr>
          <p:cNvPr id="24" name="Oval 23"/>
          <p:cNvSpPr/>
          <p:nvPr/>
        </p:nvSpPr>
        <p:spPr>
          <a:xfrm>
            <a:off x="5532120" y="2816352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32120" y="2816352"/>
            <a:ext cx="4572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0B1220"/>
                </a:solidFill>
                <a:latin typeface="Segoe UI"/>
              </a:rPr>
              <a:t>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155448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Segoe UI"/>
              </a:rPr>
              <a:t>t = 5–35 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356616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0" y="3630168"/>
            <a:ext cx="16459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Events accumulate in outbox / Kafka</a:t>
            </a:r>
          </a:p>
        </p:txBody>
      </p:sp>
      <p:sp>
        <p:nvSpPr>
          <p:cNvPr id="29" name="Oval 28"/>
          <p:cNvSpPr/>
          <p:nvPr/>
        </p:nvSpPr>
        <p:spPr>
          <a:xfrm>
            <a:off x="7635240" y="2816352"/>
            <a:ext cx="457200" cy="457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35240" y="2816352"/>
            <a:ext cx="4572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0B1220"/>
                </a:solidFill>
                <a:latin typeface="Segoe U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155448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t = 35 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0" y="356616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0" y="3630168"/>
            <a:ext cx="16459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Order restarts, replays from offset</a:t>
            </a:r>
          </a:p>
        </p:txBody>
      </p:sp>
      <p:sp>
        <p:nvSpPr>
          <p:cNvPr id="34" name="Oval 33"/>
          <p:cNvSpPr/>
          <p:nvPr/>
        </p:nvSpPr>
        <p:spPr>
          <a:xfrm>
            <a:off x="9646920" y="2816352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46920" y="2816352"/>
            <a:ext cx="4572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0B1220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0" y="155448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Segoe UI"/>
              </a:rPr>
              <a:t>t &lt; 36 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20" y="356616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0" y="3630168"/>
            <a:ext cx="16459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Inbox drops redeliveries → 0 duplicates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6636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166360"/>
            <a:ext cx="82296" cy="10972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239512"/>
            <a:ext cx="3319272" cy="6035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B981"/>
                </a:solidFill>
                <a:latin typeface="Segoe UI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5780836"/>
            <a:ext cx="3319272" cy="482803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paid orders lost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97679" y="516636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97679" y="5166360"/>
            <a:ext cx="82296" cy="109728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26279" y="5239512"/>
            <a:ext cx="3319272" cy="6035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A78BFA"/>
                </a:solidFill>
                <a:latin typeface="Segoe U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6279" y="5780836"/>
            <a:ext cx="3319272" cy="482803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duplicate orders (13 without inbox)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6719" y="516636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19" y="5166360"/>
            <a:ext cx="82296" cy="10972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75319" y="5239512"/>
            <a:ext cx="3319272" cy="6035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D3EE"/>
                </a:solidFill>
                <a:latin typeface="Segoe UI"/>
              </a:rPr>
              <a:t>0 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19" y="5780836"/>
            <a:ext cx="3319272" cy="482803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sync path down: reserve + pay kept running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B82F6"/>
                </a:solidFill>
                <a:latin typeface="Segoe UI"/>
              </a:rPr>
              <a:t>DECISIONS • 10_ADR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Architecture decision records (10)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3B82F6"/>
                </a:solidFill>
                <a:latin typeface="Segoe UI"/>
              </a:rPr>
              <a:t>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5468112" cy="804672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1143000" cy="804672"/>
          </a:xfrm>
          <a:prstGeom prst="roundRect">
            <a:avLst>
              <a:gd name="adj" fmla="val 15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417320"/>
            <a:ext cx="11430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B1220"/>
                </a:solidFill>
                <a:latin typeface="Segoe UI"/>
              </a:rPr>
              <a:t>ADR 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1417320"/>
            <a:ext cx="41148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Cache-Hit Ladder for latency and 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68296"/>
            <a:ext cx="5468112" cy="804672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2368296"/>
            <a:ext cx="1143000" cy="804672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68296"/>
            <a:ext cx="11430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B1220"/>
                </a:solidFill>
                <a:latin typeface="Segoe UI"/>
              </a:rPr>
              <a:t>ADR 002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368296"/>
            <a:ext cx="41148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Inventory as unit rows + SKIP LOCKED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19272"/>
            <a:ext cx="5468112" cy="804672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3319272"/>
            <a:ext cx="1143000" cy="804672"/>
          </a:xfrm>
          <a:prstGeom prst="roundRect">
            <a:avLst>
              <a:gd name="adj" fmla="val 15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319272"/>
            <a:ext cx="11430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B1220"/>
                </a:solidFill>
                <a:latin typeface="Segoe UI"/>
              </a:rPr>
              <a:t>ADR 003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319272"/>
            <a:ext cx="41148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Redis token pool as admission control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70248"/>
            <a:ext cx="5468112" cy="804672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" y="4270248"/>
            <a:ext cx="1143000" cy="804672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270248"/>
            <a:ext cx="11430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B1220"/>
                </a:solidFill>
                <a:latin typeface="Segoe UI"/>
              </a:rPr>
              <a:t>ADR 004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270248"/>
            <a:ext cx="41148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PostgreSQL (SQL) over NoSQL for money &amp; stock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221224"/>
            <a:ext cx="5468112" cy="804672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5221224"/>
            <a:ext cx="1143000" cy="804672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221224"/>
            <a:ext cx="11430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B1220"/>
                </a:solidFill>
                <a:latin typeface="Segoe UI"/>
              </a:rPr>
              <a:t>ADR 005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221224"/>
            <a:ext cx="41148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Sync reserve/authorize, async order/ship/notify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1417320"/>
            <a:ext cx="5468112" cy="804672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72200" y="1417320"/>
            <a:ext cx="1143000" cy="804672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1417320"/>
            <a:ext cx="11430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B1220"/>
                </a:solidFill>
                <a:latin typeface="Segoe UI"/>
              </a:rPr>
              <a:t>ADR 006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1417320"/>
            <a:ext cx="41148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Authorize-then-capture payments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2368296"/>
            <a:ext cx="5468112" cy="804672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72200" y="2368296"/>
            <a:ext cx="1143000" cy="804672"/>
          </a:xfrm>
          <a:prstGeom prst="roundRect">
            <a:avLst>
              <a:gd name="adj" fmla="val 15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2368296"/>
            <a:ext cx="11430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B1220"/>
                </a:solidFill>
                <a:latin typeface="Segoe UI"/>
              </a:rPr>
              <a:t>ADR 007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2368296"/>
            <a:ext cx="41148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Transactional outbox + orchestrated saga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3319272"/>
            <a:ext cx="5468112" cy="804672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72200" y="3319272"/>
            <a:ext cx="1143000" cy="804672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72200" y="3319272"/>
            <a:ext cx="11430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B1220"/>
                </a:solidFill>
                <a:latin typeface="Segoe UI"/>
              </a:rPr>
              <a:t>ADR 008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52360" y="3319272"/>
            <a:ext cx="41148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Pessimistic for stock, optimistic elsewhere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72200" y="4270248"/>
            <a:ext cx="5468112" cy="804672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172200" y="4270248"/>
            <a:ext cx="1143000" cy="804672"/>
          </a:xfrm>
          <a:prstGeom prst="roundRect">
            <a:avLst>
              <a:gd name="adj" fmla="val 15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72200" y="4270248"/>
            <a:ext cx="11430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B1220"/>
                </a:solidFill>
                <a:latin typeface="Segoe UI"/>
              </a:rPr>
              <a:t>ADR 009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4270248"/>
            <a:ext cx="41148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Shedding, retry budget, fencing, inbox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72200" y="5221224"/>
            <a:ext cx="5468112" cy="804672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72200" y="5221224"/>
            <a:ext cx="1143000" cy="804672"/>
          </a:xfrm>
          <a:prstGeom prst="roundRect">
            <a:avLst>
              <a:gd name="adj" fmla="val 15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5221224"/>
            <a:ext cx="11430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B1220"/>
                </a:solidFill>
                <a:latin typeface="Segoe UI"/>
              </a:rPr>
              <a:t>ADR 010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52360" y="5221224"/>
            <a:ext cx="411480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Own cell + open-loop load testing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B82F6"/>
                </a:solidFill>
                <a:latin typeface="Segoe UI"/>
              </a:rPr>
              <a:t>TOOLING • 13_TOOLS_GUIDE.MD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Tools we 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3B82F6"/>
                </a:solidFill>
                <a:latin typeface="Segoe UI"/>
              </a:rPr>
              <a:t>31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63040"/>
            <a:ext cx="2075688" cy="21488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71016" y="1691640"/>
            <a:ext cx="640080" cy="6400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71016" y="169164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B1220"/>
                </a:solidFill>
                <a:latin typeface="Segoe UI"/>
              </a:rPr>
              <a:t>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450592"/>
            <a:ext cx="192938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Draw.io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880360"/>
            <a:ext cx="192938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HLD, LLD, ER diagrams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88920" y="1463040"/>
            <a:ext cx="2075688" cy="21488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11296" y="169164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11296" y="169164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B1220"/>
                </a:solidFill>
                <a:latin typeface="Segoe UI"/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62072" y="2450592"/>
            <a:ext cx="192938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StarUML / UML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2880360"/>
            <a:ext cx="192938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class, sequence, state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0" y="1463040"/>
            <a:ext cx="2075688" cy="21488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51576" y="169164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51576" y="169164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B1220"/>
                </a:solidFill>
                <a:latin typeface="Segoe UI"/>
              </a:rPr>
              <a:t>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2450592"/>
            <a:ext cx="192938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MySQL Workbench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2880360"/>
            <a:ext cx="192938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ER from schema_mysql.sql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69480" y="1463040"/>
            <a:ext cx="2075688" cy="21488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91856" y="1691640"/>
            <a:ext cx="640080" cy="64008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1856" y="169164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B1220"/>
                </a:solidFill>
                <a:latin typeface="Segoe UI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1" y="2450592"/>
            <a:ext cx="192938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dbdiagram.io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42631" y="2880360"/>
            <a:ext cx="192938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salestorm.dbml 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60" y="1463040"/>
            <a:ext cx="2075688" cy="21488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32136" y="169164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32136" y="169164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B1220"/>
                </a:solidFill>
                <a:latin typeface="Segoe UI"/>
              </a:rPr>
              <a:t>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2912" y="2450592"/>
            <a:ext cx="192938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Swagger / OpenAPI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2" y="2880360"/>
            <a:ext cx="192938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live API docs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3840480"/>
            <a:ext cx="2075688" cy="21488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271016" y="406908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406908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B1220"/>
                </a:solidFill>
                <a:latin typeface="Segoe UI"/>
              </a:rPr>
              <a:t>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" y="4828032"/>
            <a:ext cx="192938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Postman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" y="5257800"/>
            <a:ext cx="192938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collection + idempotency tests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88920" y="3840480"/>
            <a:ext cx="2075688" cy="21488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511296" y="4069080"/>
            <a:ext cx="640080" cy="64008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11296" y="406908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B1220"/>
                </a:solidFill>
                <a:latin typeface="Segoe UI"/>
              </a:rPr>
              <a:t>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62072" y="4828032"/>
            <a:ext cx="192938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Locust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62072" y="5257800"/>
            <a:ext cx="192938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open-loop load tests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0" y="3840480"/>
            <a:ext cx="2075688" cy="21488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751576" y="4069080"/>
            <a:ext cx="640080" cy="64008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51576" y="406908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B1220"/>
                </a:solidFill>
                <a:latin typeface="Segoe UI"/>
              </a:rPr>
              <a:t>J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2352" y="4828032"/>
            <a:ext cx="192938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JMeter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2352" y="5257800"/>
            <a:ext cx="192938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throughput test plan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69480" y="3840480"/>
            <a:ext cx="2075688" cy="21488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991856" y="406908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91856" y="406908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B1220"/>
                </a:solidFill>
                <a:latin typeface="Segoe UI"/>
              </a:rPr>
              <a:t>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42631" y="4828032"/>
            <a:ext cx="192938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GitHub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42631" y="5257800"/>
            <a:ext cx="192938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repo, PRs, history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509760" y="3840480"/>
            <a:ext cx="2075688" cy="21488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232136" y="4069080"/>
            <a:ext cx="640080" cy="6400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232136" y="406908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B1220"/>
                </a:solidFill>
                <a:latin typeface="Segoe UI"/>
              </a:rPr>
              <a:t>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82912" y="4828032"/>
            <a:ext cx="192938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GitHub Pages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82912" y="5257800"/>
            <a:ext cx="192938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live documentation site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657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"/>
            <a:ext cx="91440" cy="65836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B82F6"/>
                </a:solidFill>
                <a:latin typeface="Segoe UI"/>
              </a:rPr>
              <a:t>TEAM • TEAM_OWNERSHIP.MD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Team ownership — everyone can answer anything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9AA8C2"/>
                </a:solidFill>
                <a:latin typeface="Segoe UI"/>
              </a:rPr>
              <a:t>SALESTORM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3B82F6"/>
                </a:solidFill>
                <a:latin typeface="Segoe UI"/>
              </a:rPr>
              <a:t>32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63040"/>
            <a:ext cx="2651760" cy="47548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463040"/>
            <a:ext cx="2651760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17319" y="1783080"/>
            <a:ext cx="914400" cy="9144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19" y="1783080"/>
            <a:ext cx="91440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34640"/>
            <a:ext cx="24688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System Architect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611880"/>
            <a:ext cx="23774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HLD, scalability, deployment, cell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120640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ADR 001 • 003 • 004 • 005 • 010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64992" y="1463040"/>
            <a:ext cx="2651760" cy="47548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64992" y="1463040"/>
            <a:ext cx="2651760" cy="7315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33672" y="1783080"/>
            <a:ext cx="914400" cy="9144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33672" y="1783080"/>
            <a:ext cx="91440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S2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2834640"/>
            <a:ext cx="24688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LLD &amp; Design Engineer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2152" y="3611880"/>
            <a:ext cx="23774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Classes, SOLID, patterns, sequences, states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02152" y="5120640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000" b="1">
                <a:solidFill>
                  <a:srgbClr val="A78BFA"/>
                </a:solidFill>
                <a:latin typeface="Segoe UI"/>
              </a:rPr>
              <a:t>UML • 06_SOLID • 07_Patterns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1463040"/>
            <a:ext cx="2651760" cy="47548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1463040"/>
            <a:ext cx="265176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050024" y="1783080"/>
            <a:ext cx="914400" cy="9144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0024" y="1783080"/>
            <a:ext cx="91440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S3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2783" y="2834640"/>
            <a:ext cx="24688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Data &amp; API Engineer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3611880"/>
            <a:ext cx="23774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22 tables, OpenAPI, outbox/inbox, payments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18504" y="5120640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000" b="1">
                <a:solidFill>
                  <a:srgbClr val="F59E0B"/>
                </a:solidFill>
                <a:latin typeface="Segoe UI"/>
              </a:rPr>
              <a:t>ADR 004 • 006 • 007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97696" y="1463040"/>
            <a:ext cx="2651760" cy="47548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97696" y="1463040"/>
            <a:ext cx="2651760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866376" y="17830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66376" y="1783080"/>
            <a:ext cx="91440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S4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89136" y="2834640"/>
            <a:ext cx="24688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Reliability Engineer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4856" y="3611880"/>
            <a:ext cx="23774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Concurrency, 14 failure modes, security, proof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34856" y="5120640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45720" rIns="45720"/>
          <a:lstStyle/>
          <a:p>
            <a:pPr algn="ctr"/>
            <a:r>
              <a:rPr sz="1000" b="1">
                <a:solidFill>
                  <a:srgbClr val="10B981"/>
                </a:solidFill>
                <a:latin typeface="Segoe UI"/>
              </a:rPr>
              <a:t>ADR 002 • 008 • 009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• SysCrafters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55664"/>
            <a:ext cx="11247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33</a:t>
            </a:r>
          </a:p>
        </p:txBody>
      </p:sp>
      <p:sp>
        <p:nvSpPr>
          <p:cNvPr id="6" name="Oval 5"/>
          <p:cNvSpPr/>
          <p:nvPr/>
        </p:nvSpPr>
        <p:spPr>
          <a:xfrm>
            <a:off x="-1371600" y="4114800"/>
            <a:ext cx="6400800" cy="6400800"/>
          </a:xfrm>
          <a:prstGeom prst="ellipse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144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LIVE DEMO • DOCS •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64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75895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9AA8C2"/>
                </a:solidFill>
                <a:latin typeface="Segoe UI"/>
              </a:rPr>
              <a:t>Caches can say </a:t>
            </a:r>
            <a:r>
              <a:rPr sz="2200" b="1">
                <a:solidFill>
                  <a:srgbClr val="EF4444"/>
                </a:solidFill>
                <a:latin typeface="Segoe UI"/>
              </a:rPr>
              <a:t>NO</a:t>
            </a:r>
            <a:r>
              <a:rPr sz="2200" b="0">
                <a:solidFill>
                  <a:srgbClr val="9AA8C2"/>
                </a:solidFill>
                <a:latin typeface="Segoe UI"/>
              </a:rPr>
              <a:t>. Only the database can say </a:t>
            </a:r>
            <a:r>
              <a:rPr sz="2200" b="1">
                <a:solidFill>
                  <a:srgbClr val="10B981"/>
                </a:solidFill>
                <a:latin typeface="Segoe UI"/>
              </a:rPr>
              <a:t>YES</a:t>
            </a:r>
            <a:r>
              <a:rPr sz="2200" b="0">
                <a:solidFill>
                  <a:srgbClr val="9AA8C2"/>
                </a:solidFill>
                <a:latin typeface="Segoe U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37560"/>
            <a:ext cx="7589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AA8C2"/>
                </a:solidFill>
                <a:latin typeface="Segoe UI"/>
              </a:rPr>
              <a:t>Live 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11880"/>
            <a:ext cx="75895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https://sivaangayarkanni.github.io/SalesStrom-Ecommerce-platform/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69080"/>
            <a:ext cx="7589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AA8C2"/>
                </a:solidFill>
                <a:latin typeface="Segoe UI"/>
              </a:rPr>
              <a:t>Swagger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75895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https://sivaangayarkanni.github.io/SalesStrom-Ecommerce-platform/api.html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00600"/>
            <a:ext cx="7589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AA8C2"/>
                </a:solidFill>
                <a:latin typeface="Segoe UI"/>
              </a:rPr>
              <a:t>Repository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75895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github.com/sivaangayarkanni/SalesStrom-Ecommerce-platform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5486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59E0B"/>
                </a:solidFill>
                <a:latin typeface="Segoe UI"/>
              </a:rPr>
              <a:t>Questions?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49640" y="1463040"/>
            <a:ext cx="3108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alestorm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00200"/>
            <a:ext cx="2834640" cy="2834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549640" y="448056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B1220"/>
                </a:solidFill>
                <a:latin typeface="Segoe UI"/>
              </a:rPr>
              <a:t>Scan for the live site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5212080"/>
            <a:ext cx="3108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0B981"/>
                </a:solidFill>
                <a:latin typeface="Segoe UI"/>
              </a:rPr>
              <a:t>100 sold • 0 oversold</a:t>
            </a:r>
          </a:p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0B981"/>
                </a:solidFill>
                <a:latin typeface="Segoe UI"/>
              </a:rPr>
              <a:t>0 double charges • 0 lost orders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