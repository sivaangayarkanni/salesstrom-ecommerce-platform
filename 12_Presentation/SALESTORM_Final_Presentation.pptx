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4" name="Oval 3"/>
          <p:cNvSpPr/>
          <p:nvPr/>
        </p:nvSpPr>
        <p:spPr>
          <a:xfrm>
            <a:off x="-914400" y="4206240"/>
            <a:ext cx="7315200" cy="7315200"/>
          </a:xfrm>
          <a:prstGeom prst="ellipse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0" y="-2286000"/>
            <a:ext cx="5486400" cy="5486400"/>
          </a:xfrm>
          <a:prstGeom prst="ellipse">
            <a:avLst/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2D3EE"/>
                </a:solidFill>
                <a:latin typeface="Segoe UI"/>
              </a:rPr>
              <a:t>SYSCRAFTERS 2026  ·  SYSTEM DESIGN 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0584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Segoe UI"/>
              </a:rPr>
              <a:t>SALESTORM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05840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9AA8C2"/>
                </a:solidFill>
                <a:latin typeface="Segoe UI"/>
              </a:rPr>
              <a:t>Selling exactly 100 units to 10,000 buyers in one second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Segoe UI"/>
              </a:rPr>
              <a:t>Caches can say </a:t>
            </a:r>
            <a:r>
              <a:rPr sz="2200" b="1">
                <a:solidFill>
                  <a:srgbClr val="EF4444"/>
                </a:solidFill>
                <a:latin typeface="Segoe UI"/>
              </a:rPr>
              <a:t>NO</a:t>
            </a:r>
            <a:r>
              <a:rPr sz="2200" b="0">
                <a:solidFill>
                  <a:srgbClr val="FFFFFF"/>
                </a:solidFill>
                <a:latin typeface="Segoe UI"/>
              </a:rPr>
              <a:t>. Only the database can say </a:t>
            </a:r>
            <a:r>
              <a:rPr sz="2200" b="1">
                <a:solidFill>
                  <a:srgbClr val="10B981"/>
                </a:solidFill>
                <a:latin typeface="Segoe UI"/>
              </a:rPr>
              <a:t>YES</a:t>
            </a:r>
            <a:r>
              <a:rPr sz="2200" b="0">
                <a:solidFill>
                  <a:srgbClr val="FFFFFF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2267712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Cache-Hit Ladder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82112" y="457200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0 oversold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19472" y="4572000"/>
            <a:ext cx="2624328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Exactly-once charge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80" y="4572000"/>
            <a:ext cx="27432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Survives 30 s outage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82296" cy="14630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18488"/>
            <a:ext cx="233172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Segoe UI"/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7323"/>
            <a:ext cx="233172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units in stock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50876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508760"/>
            <a:ext cx="82296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1618488"/>
            <a:ext cx="233172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Segoe UI"/>
              </a:rPr>
              <a:t>10,000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357323"/>
            <a:ext cx="233172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buyers click at once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50876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508760"/>
            <a:ext cx="82296" cy="14630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618488"/>
            <a:ext cx="233172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A78BFA"/>
                </a:solidFill>
                <a:latin typeface="Segoe UI"/>
              </a:rPr>
              <a:t>500k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57323"/>
            <a:ext cx="233172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requests / s at peak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7696" y="1508760"/>
            <a:ext cx="260604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7696" y="1508760"/>
            <a:ext cx="82296" cy="14630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1618488"/>
            <a:ext cx="233172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F4444"/>
                </a:solidFill>
                <a:latin typeface="Segoe UI"/>
              </a:rPr>
              <a:t>30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2357323"/>
            <a:ext cx="233172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Order Service outage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91840"/>
            <a:ext cx="5440680" cy="28346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291840"/>
            <a:ext cx="54406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456432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Hard guarantees (must never break)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886200"/>
            <a:ext cx="5074920" cy="2148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Never sell unit #101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Never charge a customer twice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Never lose a paid order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One unit per customer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291840"/>
            <a:ext cx="5440680" cy="28346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291840"/>
            <a:ext cx="54406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456432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Test case we designed for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86200"/>
            <a:ext cx="5074920" cy="2148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95% payments succeed, 5% fail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2% duplicate requests (double clicks, retries)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Order Service down for 30 s mid-sale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8C2"/>
                </a:solidFill>
                <a:latin typeface="Segoe UI"/>
              </a:rPr>
              <a:t>• 10k req/s normal, 500k req/s peak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Our unique factor: the Cache-Hit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88136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536192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745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Countdown, assets, Buy debounce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40"/>
            <a:ext cx="31089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3B82F6"/>
                </a:solidFill>
                <a:latin typeface="Segoe UI"/>
              </a:rPr>
              <a:t>blocks repeat clicks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2395728"/>
            <a:ext cx="1005840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2395728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395728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39" y="24688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CDN + WAF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39" y="280720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Product pages + SOLD_OUT flag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395728"/>
            <a:ext cx="31089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22D3EE"/>
                </a:solidFill>
                <a:latin typeface="Segoe UI"/>
              </a:rPr>
              <a:t>9,921 answered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328416"/>
            <a:ext cx="923544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463040" y="3328416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328416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401568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In-process cache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39896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Hot product &amp; sold-out flag per pod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328416"/>
            <a:ext cx="31089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Segoe UI"/>
              </a:rPr>
              <a:t>163 answered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74519" y="4261104"/>
            <a:ext cx="841248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874519" y="4261104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74519" y="4261104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4334256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Redis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4672584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100 admission tokens + idempotency keys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261104"/>
            <a:ext cx="31089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A78BFA"/>
                </a:solidFill>
                <a:latin typeface="Segoe UI"/>
              </a:rPr>
              <a:t>7 rejected · 2 replayed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5193792"/>
            <a:ext cx="7589520" cy="78638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86000" y="5193792"/>
            <a:ext cx="914400" cy="786384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0" y="5193792"/>
            <a:ext cx="91440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0B1220"/>
                </a:solidFill>
                <a:latin typeface="Segoe UI"/>
              </a:rPr>
              <a:t>L4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266944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Postgres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5605272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Unit rows · SKIP LOCKED · UNIQUE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193792"/>
            <a:ext cx="3108960" cy="7863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Segoe UI"/>
              </a:rPr>
              <a:t>107 reached → 100 sold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17220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Each tier can only say NO. The only YES is a committed Postgres transaction — so caches make it fast, and the database keeps it correct.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High-level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l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2905" y="1435607"/>
            <a:ext cx="5715708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HLD · C4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System context &amp;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493776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ystem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503174"/>
            <a:ext cx="4718304" cy="267461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0" y="1325880"/>
            <a:ext cx="594360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tai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1807873"/>
            <a:ext cx="5724144" cy="40652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NO OVERSELLING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Concurrency: how one click is decided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48640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currenc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8976"/>
            <a:ext cx="5266943" cy="466300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32588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325880"/>
            <a:ext cx="534924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0472"/>
            <a:ext cx="4983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Redis token pool =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920240"/>
            <a:ext cx="4983479" cy="82295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Atomic DECR admits at most 100 buyers to the database. Everyone else gets SOLD OUT in milliseconds.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97180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971800"/>
            <a:ext cx="53492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136392"/>
            <a:ext cx="4983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Unit rows + SKIP 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566160"/>
            <a:ext cx="4983479" cy="82295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Each unit is its own row. Buyers grab different rows in parallel — no hot-row lock queue.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61772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4617720"/>
            <a:ext cx="534924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782312"/>
            <a:ext cx="4983479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UNIQUE(sale, customer)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212080"/>
            <a:ext cx="4983479" cy="82295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The database itself refuses a second unit for the same buyer, even if every cache fails.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LLD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Sequence: Buy Now → reservation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_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852" y="1435607"/>
            <a:ext cx="7425815" cy="4809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PAYMENT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Payment: authorize, then capture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7498079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_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024" y="1435607"/>
            <a:ext cx="6329311" cy="48097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1325880"/>
            <a:ext cx="3383280" cy="15544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325880"/>
            <a:ext cx="338328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49047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Idempotency-Key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920240"/>
            <a:ext cx="301752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Duplicate request → same stored answer, never a second charge.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017520"/>
            <a:ext cx="3383280" cy="15544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3017520"/>
            <a:ext cx="33832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18211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Fencing 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11879"/>
            <a:ext cx="301752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Payment after TTL expiry fails the version check → auth voided.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4709160"/>
            <a:ext cx="3383280" cy="16459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4709160"/>
            <a:ext cx="338328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87375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Failure = release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303520"/>
            <a:ext cx="3017520" cy="960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Declined payment returns the unit to the pool for the next buyer.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Order Service down for 30 s — nothing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786384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q_order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68515"/>
            <a:ext cx="7644383" cy="43439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325880"/>
            <a:ext cx="297180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1325880"/>
            <a:ext cx="82296" cy="14630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0" y="1435607"/>
            <a:ext cx="269748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A78BFA"/>
                </a:solidFill>
                <a:latin typeface="Segoe UI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174443"/>
            <a:ext cx="269748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events buffered in outbox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2971800"/>
            <a:ext cx="297180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1080" y="2971800"/>
            <a:ext cx="82296" cy="14630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0" y="3081528"/>
            <a:ext cx="269748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0B981"/>
                </a:solidFill>
                <a:latin typeface="Segoe UI"/>
              </a:rPr>
              <a:t>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3820363"/>
            <a:ext cx="269748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orders created after restart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4617720"/>
            <a:ext cx="2971800" cy="146304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41080" y="4617720"/>
            <a:ext cx="82296" cy="14630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4727448"/>
            <a:ext cx="2697480" cy="8046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5466283"/>
            <a:ext cx="2697480" cy="58521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lost · 0 duplicated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LLD · STATE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493776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te_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754002"/>
            <a:ext cx="4718303" cy="217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0" y="1325880"/>
            <a:ext cx="594360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ate_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2589883"/>
            <a:ext cx="5724144" cy="25011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LLD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Class design, SOLID &amp;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786384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236" y="1435607"/>
            <a:ext cx="4390647" cy="48097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3716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Facade · CheckoutFacade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18288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Saga · CheckoutSaga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41080" y="22860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Strategy · TokenPool,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27432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Adapter · Razorpay / Stripe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32004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Factory · PaymentProviderFactory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36576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Decorator · CircuitBreakerGateway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41148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State · OrderState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45720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Observer · OrderEventPublisher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5029200"/>
            <a:ext cx="297180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3B82F6"/>
                </a:solidFill>
                <a:latin typeface="Segoe UI"/>
              </a:rPr>
              <a:t>Repository · UnitRepository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55778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SRP per service · OCP via new adapters · DIP: services depend on interfaces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Database design (PostgreSQL, 22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4297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2847"/>
            <a:ext cx="10844784" cy="324374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80644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9E0B"/>
                </a:solidFill>
                <a:latin typeface="Segoe UI"/>
              </a:rPr>
              <a:t>one row per unit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580644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10B981"/>
                </a:solidFill>
                <a:latin typeface="Segoe UI"/>
              </a:rPr>
              <a:t>UNIQUE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580644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Segoe UI"/>
              </a:rPr>
              <a:t>idempotency_record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79" y="580644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A78BFA"/>
                </a:solidFill>
                <a:latin typeface="Segoe UI"/>
              </a:rPr>
              <a:t>outbox (same TX)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59" y="580644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E2B4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EF4444"/>
                </a:solidFill>
                <a:latin typeface="Segoe UI"/>
              </a:rPr>
              <a:t>inbox + lease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Proof: we simulated the exact test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3716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27048"/>
            <a:ext cx="2331720" cy="7543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2D3EE"/>
                </a:solidFill>
                <a:latin typeface="Segoe UI"/>
              </a:rPr>
              <a:t>10,200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requests incl. 200 duplicates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41732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417320"/>
            <a:ext cx="82296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1527048"/>
            <a:ext cx="2331720" cy="7543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Segoe UI"/>
              </a:rPr>
              <a:t>107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212848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ever reached Postgres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41732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417320"/>
            <a:ext cx="82296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527048"/>
            <a:ext cx="2331720" cy="7543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0B981"/>
                </a:solidFill>
                <a:latin typeface="Segoe UI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212848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sold — exactly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7696" y="141732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97696" y="1417320"/>
            <a:ext cx="82296" cy="13716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1527048"/>
            <a:ext cx="2331720" cy="7543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A78BFA"/>
                </a:solidFill>
                <a:latin typeface="Segoe UI"/>
              </a:rPr>
              <a:t>415 /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2212848"/>
            <a:ext cx="2331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invariant checks / violations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017520"/>
            <a:ext cx="630936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ier_absor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127248"/>
            <a:ext cx="6053327" cy="3026663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040880" y="3017520"/>
            <a:ext cx="4572000" cy="324612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31546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Same load, naive stock counter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657600"/>
            <a:ext cx="20116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F4444"/>
                </a:solidFill>
                <a:latin typeface="Segoe UI"/>
              </a:rPr>
              <a:t>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617720"/>
            <a:ext cx="20116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sold (oversold 550)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657600"/>
            <a:ext cx="20116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10B981"/>
                </a:solidFill>
                <a:latin typeface="Segoe UI"/>
              </a:rPr>
              <a:t>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461772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sold with SALESTORM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5212080"/>
            <a:ext cx="420624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8C2"/>
                </a:solidFill>
                <a:latin typeface="Segoe UI"/>
              </a:rPr>
              <a:t>Max 1 charge per customer · 7 failed payments → 6 units resold · 100 orders recovered after the outage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WHAT BREAKS, AND 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Stress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356616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8191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500k req/s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CDN + L2 answer &gt;98%. The database only sees about a hundred writes.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173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417320"/>
            <a:ext cx="356616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158191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Redis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1168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Fall back to the DB token pool with a strict rate limit. Slower, still correct.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41732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417320"/>
            <a:ext cx="356616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58191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Gateway slow /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01168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Circuit breaker opens, buyers wait in the queue, auths time out and get voided.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40480"/>
            <a:ext cx="356616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00507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Order Service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3484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Outbox + Kafka hold events; idempotent replay on restart.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384048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840480"/>
            <a:ext cx="3566160" cy="6400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400507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Duplicate clicks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443484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Idempotency-Key + UNIQUE constraint → same answer, one charge.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840480"/>
            <a:ext cx="3566160" cy="224028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3840480"/>
            <a:ext cx="3566160" cy="64008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9" y="4005072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Late payment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443484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Fencing version mismatch → void auth, unit stays with new owner.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PRODUCTION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Failure modes we designed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362456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Metastable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362456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Load shedder + admission control + retry budget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993391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993391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93391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029967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Retry storm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029967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Idempotent-only retries, full jitter, 10% budget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660904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2660904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660904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19" y="2697480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Tail 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2697480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Hedged reads at p95 (reads only), no fan-out on Buy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28415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3328415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328415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19" y="3364991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Cache stampede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364991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Singleflight + TTL jitter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995928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3995928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95928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19" y="4032504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Hot key (the SKU)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4032504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16 salted Redis sub-pools + fallback probing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663440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48640" y="466344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6344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19" y="4700016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Duplicate 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700016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Outbox + inbox table = effectively-once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330952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8640" y="5330952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330952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88719" y="536752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Split-brain leader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367528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Lease + fencing token checked by Postgres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1325880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72200" y="132588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132588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1362456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Gray failure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1362456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Real-traffic health, outlier ejection, phi-accrual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200" y="1993391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72200" y="1993391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1993391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80" y="2029967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Unbalanced backends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2029967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Power of two choices on in-flight count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72200" y="2660904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172200" y="2660904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2660904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12280" y="2697480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Capacity guesswork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69680" y="2697480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Little's law: 200 in flight, DB pool 40, &lt;70% util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72200" y="3328415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72200" y="3328415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72200" y="3328415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364991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Write skew (oversell)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3364991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Unit rows + SKIP LOCKED + partial UNIQUE + CHECK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3995928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172200" y="3995928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72200" y="3995928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12280" y="4032504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Late events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69680" y="4032504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Event time + watermark → reconciliation (void)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72200" y="4663440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172200" y="4663440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72200" y="4663440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4700016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Blast radius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4700016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Flash sale in its own cell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72200" y="5330952"/>
            <a:ext cx="5440680" cy="603504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72200" y="5330952"/>
            <a:ext cx="502920" cy="603504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72200" y="5330952"/>
            <a:ext cx="50292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0B1220"/>
                </a:solidFill>
                <a:latin typeface="Segoe UI"/>
              </a:rPr>
              <a:t>14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12280" y="5367528"/>
            <a:ext cx="21031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Coordinated omission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69680" y="5367528"/>
            <a:ext cx="26974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AA8C2"/>
                </a:solidFill>
                <a:latin typeface="Segoe UI"/>
              </a:rPr>
              <a:t>Open-loop load tests, intended-start latency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Segoe UI"/>
              </a:rPr>
              <a:t>"I would rather reject 5% of requests than let retries turn a blip into a 40-minute outage."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PROOF · RESILIENCE_SIM.PY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Resilience controls on the request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786384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silience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7238"/>
            <a:ext cx="7644383" cy="450648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641080" y="1325880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1325880"/>
            <a:ext cx="82296" cy="1143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0" y="1435607"/>
            <a:ext cx="2697480" cy="62865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0B981"/>
                </a:solidFill>
                <a:latin typeface="Segoe UI"/>
              </a:rPr>
              <a:t>1.01×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988819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load after a 2 s blip (naive: 4.26×, never recovered)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2587752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41080" y="2587752"/>
            <a:ext cx="82296" cy="114300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0" y="2697480"/>
            <a:ext cx="2697480" cy="62865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A78BFA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3250692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duplicate orders from 113 deliveries (no inbox: 13)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41080" y="3849624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41080" y="3849624"/>
            <a:ext cx="82296" cy="1143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3959352"/>
            <a:ext cx="2697480" cy="62865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Segoe UI"/>
              </a:rPr>
              <a:t>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4512564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max calls on one Redis key (single key: 10,000)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41080" y="5111496"/>
            <a:ext cx="2971800" cy="11430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41080" y="5111496"/>
            <a:ext cx="82296" cy="11430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0" y="5221224"/>
            <a:ext cx="2697480" cy="62865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F4444"/>
                </a:solidFill>
                <a:latin typeface="Segoe UI"/>
              </a:rPr>
              <a:t>1.9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5774436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8C2"/>
                </a:solidFill>
                <a:latin typeface="Segoe UI"/>
              </a:rPr>
              <a:t>true p99 of a stall (closed-loop said 1 ms)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Segoe UI"/>
              </a:rPr>
              <a:t>JURY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"100 left, 10,000 click Buy Now" — 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49039"/>
            <a:ext cx="10515600" cy="54864"/>
          </a:xfrm>
          <a:prstGeom prst="rect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15568" y="352044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3B82F6"/>
                </a:solidFill>
                <a:latin typeface="Segoe UI"/>
              </a:rPr>
              <a:t>0 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Browser debounces; CDN serves page with SOLD_OUT=false</a:t>
            </a:r>
          </a:p>
        </p:txBody>
      </p:sp>
      <p:sp>
        <p:nvSpPr>
          <p:cNvPr id="13" name="Oval 12"/>
          <p:cNvSpPr/>
          <p:nvPr/>
        </p:nvSpPr>
        <p:spPr>
          <a:xfrm>
            <a:off x="3017520" y="35204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592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2D3EE"/>
                </a:solidFill>
                <a:latin typeface="Segoe UI"/>
              </a:rPr>
              <a:t>5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2032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P2C LB, load shedder, JWT, rate limit, Idempotency-Key</a:t>
            </a:r>
          </a:p>
        </p:txBody>
      </p:sp>
      <p:sp>
        <p:nvSpPr>
          <p:cNvPr id="18" name="Oval 17"/>
          <p:cNvSpPr/>
          <p:nvPr/>
        </p:nvSpPr>
        <p:spPr>
          <a:xfrm>
            <a:off x="4919472" y="3520440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2544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A78BFA"/>
                </a:solidFill>
                <a:latin typeface="Segoe UI"/>
              </a:rPr>
              <a:t>8 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2544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3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Redis (16 salted pools): first 100 admitted, rest SOLD OUT</a:t>
            </a:r>
          </a:p>
        </p:txBody>
      </p:sp>
      <p:sp>
        <p:nvSpPr>
          <p:cNvPr id="23" name="Oval 22"/>
          <p:cNvSpPr/>
          <p:nvPr/>
        </p:nvSpPr>
        <p:spPr>
          <a:xfrm>
            <a:off x="6821424" y="352044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4496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Segoe UI"/>
              </a:rPr>
              <a:t>20 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4496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Postgres: SKIP LOCKED claims 100 distinct unit rows</a:t>
            </a:r>
          </a:p>
        </p:txBody>
      </p:sp>
      <p:sp>
        <p:nvSpPr>
          <p:cNvPr id="28" name="Oval 27"/>
          <p:cNvSpPr/>
          <p:nvPr/>
        </p:nvSpPr>
        <p:spPr>
          <a:xfrm>
            <a:off x="8723376" y="3520440"/>
            <a:ext cx="502920" cy="5029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23376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EF4444"/>
                </a:solidFill>
                <a:latin typeface="Segoe UI"/>
              </a:rPr>
              <a:t>~2 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56448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Authorize (jittered retry, same key); 5% fail → resold</a:t>
            </a:r>
          </a:p>
        </p:txBody>
      </p:sp>
      <p:sp>
        <p:nvSpPr>
          <p:cNvPr id="33" name="Oval 32"/>
          <p:cNvSpPr/>
          <p:nvPr/>
        </p:nvSpPr>
        <p:spPr>
          <a:xfrm>
            <a:off x="10625328" y="352044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25328" y="35204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1220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173736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Segoe UI"/>
              </a:rPr>
              <a:t>async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0" y="429768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5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4389120"/>
            <a:ext cx="1554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Outbox → Kafka → inbox-deduped Order, capture, notify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3774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A8C2"/>
                </a:solidFill>
                <a:latin typeface="Segoe UI"/>
              </a:rPr>
              <a:t>Result: exactly 100 sold · nobody charged twice · every paid order delivered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8C2"/>
                </a:solidFill>
                <a:latin typeface="Segoe UI"/>
              </a:rPr>
              <a:t>SALESTORM · SysCrafters 2026</a:t>
            </a:r>
          </a:p>
        </p:txBody>
      </p:sp>
      <p:sp>
        <p:nvSpPr>
          <p:cNvPr id="4" name="Oval 3"/>
          <p:cNvSpPr/>
          <p:nvPr/>
        </p:nvSpPr>
        <p:spPr>
          <a:xfrm>
            <a:off x="8229600" y="3200400"/>
            <a:ext cx="6400800" cy="6400800"/>
          </a:xfrm>
          <a:prstGeom prst="ellipse">
            <a:avLst/>
          </a:prstGeom>
          <a:solidFill>
            <a:srgbClr val="1E2B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64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9AA8C2"/>
                </a:solidFill>
                <a:latin typeface="Segoe UI"/>
              </a:rPr>
              <a:t>Caches can say </a:t>
            </a:r>
            <a:r>
              <a:rPr sz="2400" b="1">
                <a:solidFill>
                  <a:srgbClr val="EF4444"/>
                </a:solidFill>
                <a:latin typeface="Segoe UI"/>
              </a:rPr>
              <a:t>NO</a:t>
            </a:r>
            <a:r>
              <a:rPr sz="2400" b="0">
                <a:solidFill>
                  <a:srgbClr val="9AA8C2"/>
                </a:solidFill>
                <a:latin typeface="Segoe UI"/>
              </a:rPr>
              <a:t>. Only the database can say </a:t>
            </a:r>
            <a:r>
              <a:rPr sz="2400" b="1">
                <a:solidFill>
                  <a:srgbClr val="10B981"/>
                </a:solidFill>
                <a:latin typeface="Segoe UI"/>
              </a:rPr>
              <a:t>YES</a:t>
            </a:r>
            <a:r>
              <a:rPr sz="2400" b="0">
                <a:solidFill>
                  <a:srgbClr val="9AA8C2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github.com/sivaangayarkanni/SalesStrom-Ecommerce-platform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8C2"/>
                </a:solidFill>
                <a:latin typeface="Segoe UI"/>
              </a:rPr>
              <a:t>HLD · LLD · ER · OpenAPI · Postman · 10 ADRs · failure modes · simulation · open-loop Locust/JMeter · Draw.io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9E0B"/>
                </a:solidFill>
                <a:latin typeface="Segoe U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